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Segoe UI"/>
              </a:defRPr>
            </a:pPr>
            <a:r>
              <a:rPr sz="1400" b="0" i="0" u="none" strike="noStrike">
                <a:solidFill>
                  <a:srgbClr val="1F2328"/>
                </a:solidFill>
                <a:latin typeface="Segoe UI"/>
              </a:rPr>
              <a:t>How much the cursor wobbles (lower is better)</a:t>
            </a:r>
          </a:p>
        </c:rich>
      </c:tx>
      <c:layout/>
      <c:overlay val="0"/>
    </c:title>
    <c:autoTitleDeleted val="0"/>
    <c:plotArea>
      <c:layout/>
      <c:barChart>
        <c:barDir val="col"/>
        <c:grouping val="clustered"/>
        <c:varyColors val="0"/>
        <c:ser>
          <c:idx val="0"/>
          <c:order val="0"/>
          <c:tx>
            <c:strRef>
              <c:f>Sheet1!$B$1</c:f>
              <c:strCache>
                <c:ptCount val="1"/>
                <c:pt idx="0">
                  <c:v>Wobble</c:v>
                </c:pt>
              </c:strCache>
            </c:strRef>
          </c:tx>
          <c:spPr>
            <a:solidFill>
              <a:srgbClr val="1473E6"/>
            </a:solidFill>
            <a:effectLst/>
          </c:spPr>
          <c:invertIfNegative val="0"/>
          <c:dLbls>
            <c:numFmt formatCode="0.0" sourceLinked="0"/>
            <c:txPr>
              <a:bodyPr/>
              <a:lstStyle/>
              <a:p>
                <a:pPr>
                  <a:defRPr b="0" i="0" strike="noStrike" sz="1200" u="none">
                    <a:solidFill>
                      <a:srgbClr val="1F2328"/>
                    </a:solidFill>
                    <a:latin typeface="Segoe UI"/>
                  </a:defRPr>
                </a:pPr>
              </a:p>
            </c:txPr>
            <c:showLegendKey val="0"/>
            <c:showVal val="1"/>
            <c:showCatName val="0"/>
            <c:showSerName val="0"/>
            <c:showPercent val="0"/>
            <c:showBubbleSize val="0"/>
            <c:showLeaderLines val="0"/>
          </c:dLbls>
          <c:cat>
            <c:multiLvlStrRef>
              <c:f>Sheet1!$A$2:$A$4</c:f>
              <c:multiLvlStrCache>
                <c:ptCount val="3"/>
                <c:lvl>
                  <c:pt idx="0">
                    <c:v>Raw</c:v>
                  </c:pt>
                  <c:pt idx="1">
                    <c:v>With filter</c:v>
                  </c:pt>
                  <c:pt idx="2">
                    <c:v>Filter + wrist</c:v>
                  </c:pt>
                </c:lvl>
              </c:multiLvlStrCache>
            </c:multiLvlStrRef>
          </c:cat>
          <c:val>
            <c:numRef>
              <c:f>Sheet1!$B$2:$B$4</c:f>
              <c:numCache>
                <c:formatCode>General</c:formatCode>
                <c:ptCount val="3"/>
                <c:pt idx="0">
                  <c:v>4.89</c:v>
                </c:pt>
                <c:pt idx="1">
                  <c:v>1.7</c:v>
                </c:pt>
                <c:pt idx="2">
                  <c:v>1.22</c:v>
                </c:pt>
              </c:numCache>
            </c:numRef>
          </c:val>
        </c:ser>
        <c:dLbls>
          <c:numFmt formatCode="0.0" sourceLinked="0"/>
          <c:txPr>
            <a:bodyPr/>
            <a:lstStyle/>
            <a:p>
              <a:pPr>
                <a:defRPr b="0" i="0" strike="noStrike" sz="1200" u="none">
                  <a:solidFill>
                    <a:srgbClr val="1F2328"/>
                  </a:solidFill>
                  <a:latin typeface="Segoe U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2"/>
                </a:solidFill>
                <a:latin typeface="Segoe U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5D8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672"/>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Segoe UI"/>
              </a:defRPr>
            </a:pPr>
            <a:r>
              <a:rPr sz="1400" b="0" i="0" u="none" strike="noStrike">
                <a:solidFill>
                  <a:srgbClr val="1F2328"/>
                </a:solidFill>
                <a:latin typeface="Segoe UI"/>
              </a:rPr>
              <a:t>Mistakes in 300 frames (lower is better)</a:t>
            </a:r>
          </a:p>
        </c:rich>
      </c:tx>
      <c:layout/>
      <c:overlay val="0"/>
    </c:title>
    <c:autoTitleDeleted val="0"/>
    <c:plotArea>
      <c:layout/>
      <c:barChart>
        <c:barDir val="col"/>
        <c:grouping val="clustered"/>
        <c:varyColors val="0"/>
        <c:ser>
          <c:idx val="0"/>
          <c:order val="0"/>
          <c:tx>
            <c:strRef>
              <c:f>Sheet1!$B$1</c:f>
              <c:strCache>
                <c:ptCount val="1"/>
                <c:pt idx="0">
                  <c:v>Without the tracker</c:v>
                </c:pt>
              </c:strCache>
            </c:strRef>
          </c:tx>
          <c:spPr>
            <a:solidFill>
              <a:srgbClr val="D93025"/>
            </a:solidFill>
            <a:effectLst/>
          </c:spPr>
          <c:invertIfNegative val="0"/>
          <c:dLbls>
            <c:numFmt formatCode="#,##0" sourceLinked="0"/>
            <c:txPr>
              <a:bodyPr/>
              <a:lstStyle/>
              <a:p>
                <a:pPr>
                  <a:defRPr b="0" i="0" strike="noStrike" sz="1200" u="none">
                    <a:solidFill>
                      <a:srgbClr val="1F2328"/>
                    </a:solidFill>
                    <a:latin typeface="Segoe UI"/>
                  </a:defRPr>
                </a:pPr>
              </a:p>
            </c:txPr>
            <c:showLegendKey val="0"/>
            <c:showVal val="1"/>
            <c:showCatName val="0"/>
            <c:showSerName val="0"/>
            <c:showPercent val="0"/>
            <c:showBubbleSize val="0"/>
            <c:showLeaderLines val="0"/>
          </c:dLbls>
          <c:cat>
            <c:multiLvlStrRef>
              <c:f>Sheet1!$A$2:$A$3</c:f>
              <c:multiLvlStrCache>
                <c:ptCount val="2"/>
                <c:lvl>
                  <c:pt idx="0">
                    <c:v>False pinches</c:v>
                  </c:pt>
                  <c:pt idx="1">
                    <c:v>Frames with a ghost second hand</c:v>
                  </c:pt>
                </c:lvl>
              </c:multiLvlStrCache>
            </c:multiLvlStrRef>
          </c:cat>
          <c:val>
            <c:numRef>
              <c:f>Sheet1!$B$2:$B$3</c:f>
              <c:numCache>
                <c:formatCode>General</c:formatCode>
                <c:ptCount val="2"/>
                <c:pt idx="0">
                  <c:v>75</c:v>
                </c:pt>
                <c:pt idx="1">
                  <c:v>88</c:v>
                </c:pt>
              </c:numCache>
            </c:numRef>
          </c:val>
        </c:ser>
        <c:ser>
          <c:idx val="1"/>
          <c:order val="1"/>
          <c:tx>
            <c:strRef>
              <c:f>Sheet1!$C$1</c:f>
              <c:strCache>
                <c:ptCount val="1"/>
                <c:pt idx="0">
                  <c:v>With the tracker</c:v>
                </c:pt>
              </c:strCache>
            </c:strRef>
          </c:tx>
          <c:spPr>
            <a:solidFill>
              <a:srgbClr val="1E8E3E"/>
            </a:solidFill>
            <a:effectLst/>
          </c:spPr>
          <c:invertIfNegative val="0"/>
          <c:dLbls>
            <c:numFmt formatCode="#,##0" sourceLinked="0"/>
            <c:txPr>
              <a:bodyPr/>
              <a:lstStyle/>
              <a:p>
                <a:pPr>
                  <a:defRPr b="0" i="0" strike="noStrike" sz="1200" u="none">
                    <a:solidFill>
                      <a:srgbClr val="1F2328"/>
                    </a:solidFill>
                    <a:latin typeface="Segoe UI"/>
                  </a:defRPr>
                </a:pPr>
              </a:p>
            </c:txPr>
            <c:showLegendKey val="0"/>
            <c:showVal val="1"/>
            <c:showCatName val="0"/>
            <c:showSerName val="0"/>
            <c:showPercent val="0"/>
            <c:showBubbleSize val="0"/>
            <c:showLeaderLines val="0"/>
          </c:dLbls>
          <c:cat>
            <c:multiLvlStrRef>
              <c:f>Sheet1!$A$2:$A$3</c:f>
              <c:multiLvlStrCache>
                <c:ptCount val="2"/>
                <c:lvl>
                  <c:pt idx="0">
                    <c:v>False pinches</c:v>
                  </c:pt>
                  <c:pt idx="1">
                    <c:v>Frames with a ghost second hand</c:v>
                  </c:pt>
                </c:lvl>
              </c:multiLvlStrCache>
            </c:multiLvlStrRef>
          </c:cat>
          <c:val>
            <c:numRef>
              <c:f>Sheet1!$C$2:$C$3</c:f>
              <c:numCache>
                <c:formatCode>General</c:formatCode>
                <c:ptCount val="2"/>
                <c:pt idx="0">
                  <c:v>0</c:v>
                </c:pt>
                <c:pt idx="1">
                  <c:v>0</c:v>
                </c:pt>
              </c:numCache>
            </c:numRef>
          </c:val>
        </c:ser>
        <c:dLbls>
          <c:numFmt formatCode="#,##0" sourceLinked="0"/>
          <c:txPr>
            <a:bodyPr/>
            <a:lstStyle/>
            <a:p>
              <a:pPr>
                <a:defRPr b="0" i="0" strike="noStrike" sz="1200" u="none">
                  <a:solidFill>
                    <a:srgbClr val="1F2328"/>
                  </a:solidFill>
                  <a:latin typeface="Segoe U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2"/>
                </a:solidFill>
                <a:latin typeface="Segoe U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5D8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672"/>
                </a:solidFill>
                <a:latin typeface="Segoe U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F6672"/>
              </a:solidFill>
              <a:latin typeface="Segoe UI"/>
              <a:cs typeface="Segoe U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Segoe UI"/>
              </a:defRPr>
            </a:pPr>
            <a:r>
              <a:rPr sz="1400" b="0" i="0" u="none" strike="noStrike">
                <a:solidFill>
                  <a:srgbClr val="1F2328"/>
                </a:solidFill>
                <a:latin typeface="Segoe UI"/>
              </a:rPr>
              <a:t>IoU score as the picture gets noisier</a:t>
            </a:r>
          </a:p>
        </c:rich>
      </c:tx>
      <c:layout/>
      <c:overlay val="0"/>
    </c:title>
    <c:autoTitleDeleted val="0"/>
    <c:plotArea>
      <c:layout/>
      <c:lineChart>
        <c:varyColors val="0"/>
        <c:ser>
          <c:idx val="0"/>
          <c:order val="0"/>
          <c:tx>
            <c:strRef>
              <c:f>Sheet1!$B$1</c:f>
              <c:strCache>
                <c:ptCount val="1"/>
                <c:pt idx="0">
                  <c:v>rectangle</c:v>
                </c:pt>
              </c:strCache>
            </c:strRef>
          </c:tx>
          <c:spPr>
            <a:solidFill>
              <a:srgbClr val="1473E6"/>
            </a:solidFill>
            <a:ln w="31750" cap="flat">
              <a:solidFill>
                <a:srgbClr val="1473E6"/>
              </a:solidFill>
              <a:prstDash val="solid"/>
              <a:round/>
            </a:ln>
            <a:effectLst/>
          </c:spPr>
          <c:invertIfNegative val="0"/>
          <c:dLbls>
            <c:numFmt formatCode="#,##0" sourceLinked="0"/>
            <c:txPr>
              <a:bodyPr/>
              <a:lstStyle/>
              <a:p>
                <a:pPr>
                  <a:defRPr b="0" i="0" strike="noStrike" sz="1200" u="none">
                    <a:solidFill>
                      <a:srgbClr val="1F2328"/>
                    </a:solidFill>
                    <a:latin typeface="Segoe UI"/>
                  </a:defRPr>
                </a:pPr>
              </a:p>
            </c:txPr>
            <c:showLegendKey val="0"/>
            <c:showVal val="0"/>
            <c:showCatName val="0"/>
            <c:showSerName val="0"/>
            <c:showPercent val="0"/>
            <c:showBubbleSize val="0"/>
            <c:showLeaderLines val="0"/>
          </c:dLbls>
          <c:marker>
            <c:symbol val="circle"/>
            <c:size val="7"/>
            <c:spPr>
              <a:solidFill>
                <a:srgbClr val="1473E6"/>
              </a:solidFill>
              <a:ln w="9525" cap="flat">
                <a:solidFill>
                  <a:srgbClr val="1473E6"/>
                </a:solidFill>
                <a:prstDash val="solid"/>
                <a:round/>
              </a:ln>
              <a:effectLst/>
            </c:spPr>
          </c:marker>
          <c:cat>
            <c:multiLvlStrRef>
              <c:f>Sheet1!$A$2:$A$7</c:f>
              <c:multiLvlStrCache>
                <c:ptCount val="6"/>
                <c:lvl>
                  <c:pt idx="0">
                    <c:v>0</c:v>
                  </c:pt>
                  <c:pt idx="1">
                    <c:v>8</c:v>
                  </c:pt>
                  <c:pt idx="2">
                    <c:v>16</c:v>
                  </c:pt>
                  <c:pt idx="3">
                    <c:v>24</c:v>
                  </c:pt>
                  <c:pt idx="4">
                    <c:v>32</c:v>
                  </c:pt>
                  <c:pt idx="5">
                    <c:v>48</c:v>
                  </c:pt>
                </c:lvl>
              </c:multiLvlStrCache>
            </c:multiLvlStrRef>
          </c:cat>
          <c:val>
            <c:numRef>
              <c:f>Sheet1!$B$2:$B$7</c:f>
              <c:numCache>
                <c:formatCode>General</c:formatCode>
                <c:ptCount val="6"/>
                <c:pt idx="0">
                  <c:v>0.988</c:v>
                </c:pt>
                <c:pt idx="1">
                  <c:v>0.986</c:v>
                </c:pt>
                <c:pt idx="2">
                  <c:v>0.986</c:v>
                </c:pt>
                <c:pt idx="3">
                  <c:v>0.985</c:v>
                </c:pt>
                <c:pt idx="4">
                  <c:v>0.987</c:v>
                </c:pt>
                <c:pt idx="5">
                  <c:v>0.987</c:v>
                </c:pt>
              </c:numCache>
            </c:numRef>
          </c:val>
          <c:smooth val="0"/>
        </c:ser>
        <c:ser>
          <c:idx val="1"/>
          <c:order val="1"/>
          <c:tx>
            <c:strRef>
              <c:f>Sheet1!$C$1</c:f>
              <c:strCache>
                <c:ptCount val="1"/>
                <c:pt idx="0">
                  <c:v>circle</c:v>
                </c:pt>
              </c:strCache>
            </c:strRef>
          </c:tx>
          <c:spPr>
            <a:solidFill>
              <a:srgbClr val="E8590C"/>
            </a:solidFill>
            <a:ln w="31750" cap="flat">
              <a:solidFill>
                <a:srgbClr val="E8590C"/>
              </a:solidFill>
              <a:prstDash val="solid"/>
              <a:round/>
            </a:ln>
            <a:effectLst/>
          </c:spPr>
          <c:invertIfNegative val="0"/>
          <c:dLbls>
            <c:numFmt formatCode="#,##0" sourceLinked="0"/>
            <c:txPr>
              <a:bodyPr/>
              <a:lstStyle/>
              <a:p>
                <a:pPr>
                  <a:defRPr b="0" i="0" strike="noStrike" sz="1200" u="none">
                    <a:solidFill>
                      <a:srgbClr val="1F2328"/>
                    </a:solidFill>
                    <a:latin typeface="Segoe UI"/>
                  </a:defRPr>
                </a:pPr>
              </a:p>
            </c:txPr>
            <c:showLegendKey val="0"/>
            <c:showVal val="0"/>
            <c:showCatName val="0"/>
            <c:showSerName val="0"/>
            <c:showPercent val="0"/>
            <c:showBubbleSize val="0"/>
            <c:showLeaderLines val="0"/>
          </c:dLbls>
          <c:marker>
            <c:symbol val="circle"/>
            <c:size val="7"/>
            <c:spPr>
              <a:solidFill>
                <a:srgbClr val="E8590C"/>
              </a:solidFill>
              <a:ln w="9525" cap="flat">
                <a:solidFill>
                  <a:srgbClr val="E8590C"/>
                </a:solidFill>
                <a:prstDash val="solid"/>
                <a:round/>
              </a:ln>
              <a:effectLst/>
            </c:spPr>
          </c:marker>
          <c:cat>
            <c:multiLvlStrRef>
              <c:f>Sheet1!$A$2:$A$7</c:f>
              <c:multiLvlStrCache>
                <c:ptCount val="6"/>
                <c:lvl>
                  <c:pt idx="0">
                    <c:v>0</c:v>
                  </c:pt>
                  <c:pt idx="1">
                    <c:v>8</c:v>
                  </c:pt>
                  <c:pt idx="2">
                    <c:v>16</c:v>
                  </c:pt>
                  <c:pt idx="3">
                    <c:v>24</c:v>
                  </c:pt>
                  <c:pt idx="4">
                    <c:v>32</c:v>
                  </c:pt>
                  <c:pt idx="5">
                    <c:v>48</c:v>
                  </c:pt>
                </c:lvl>
              </c:multiLvlStrCache>
            </c:multiLvlStrRef>
          </c:cat>
          <c:val>
            <c:numRef>
              <c:f>Sheet1!$C$2:$C$7</c:f>
              <c:numCache>
                <c:formatCode>General</c:formatCode>
                <c:ptCount val="6"/>
                <c:pt idx="0">
                  <c:v>0.99</c:v>
                </c:pt>
                <c:pt idx="1">
                  <c:v>0.991</c:v>
                </c:pt>
                <c:pt idx="2">
                  <c:v>0.991</c:v>
                </c:pt>
                <c:pt idx="3">
                  <c:v>0.991</c:v>
                </c:pt>
                <c:pt idx="4">
                  <c:v>0.99</c:v>
                </c:pt>
                <c:pt idx="5">
                  <c:v>0.99</c:v>
                </c:pt>
              </c:numCache>
            </c:numRef>
          </c:val>
          <c:smooth val="0"/>
        </c:ser>
        <c:ser>
          <c:idx val="2"/>
          <c:order val="2"/>
          <c:tx>
            <c:strRef>
              <c:f>Sheet1!$D$1</c:f>
              <c:strCache>
                <c:ptCount val="1"/>
                <c:pt idx="0">
                  <c:v>L bracket</c:v>
                </c:pt>
              </c:strCache>
            </c:strRef>
          </c:tx>
          <c:spPr>
            <a:solidFill>
              <a:srgbClr val="1E8E3E"/>
            </a:solidFill>
            <a:ln w="31750" cap="flat">
              <a:solidFill>
                <a:srgbClr val="1E8E3E"/>
              </a:solidFill>
              <a:prstDash val="solid"/>
              <a:round/>
            </a:ln>
            <a:effectLst/>
          </c:spPr>
          <c:invertIfNegative val="0"/>
          <c:dLbls>
            <c:numFmt formatCode="#,##0" sourceLinked="0"/>
            <c:txPr>
              <a:bodyPr/>
              <a:lstStyle/>
              <a:p>
                <a:pPr>
                  <a:defRPr b="0" i="0" strike="noStrike" sz="1200" u="none">
                    <a:solidFill>
                      <a:srgbClr val="1F2328"/>
                    </a:solidFill>
                    <a:latin typeface="Segoe UI"/>
                  </a:defRPr>
                </a:pPr>
              </a:p>
            </c:txPr>
            <c:showLegendKey val="0"/>
            <c:showVal val="0"/>
            <c:showCatName val="0"/>
            <c:showSerName val="0"/>
            <c:showPercent val="0"/>
            <c:showBubbleSize val="0"/>
            <c:showLeaderLines val="0"/>
          </c:dLbls>
          <c:marker>
            <c:symbol val="circle"/>
            <c:size val="7"/>
            <c:spPr>
              <a:solidFill>
                <a:srgbClr val="1E8E3E"/>
              </a:solidFill>
              <a:ln w="9525" cap="flat">
                <a:solidFill>
                  <a:srgbClr val="1E8E3E"/>
                </a:solidFill>
                <a:prstDash val="solid"/>
                <a:round/>
              </a:ln>
              <a:effectLst/>
            </c:spPr>
          </c:marker>
          <c:cat>
            <c:multiLvlStrRef>
              <c:f>Sheet1!$A$2:$A$7</c:f>
              <c:multiLvlStrCache>
                <c:ptCount val="6"/>
                <c:lvl>
                  <c:pt idx="0">
                    <c:v>0</c:v>
                  </c:pt>
                  <c:pt idx="1">
                    <c:v>8</c:v>
                  </c:pt>
                  <c:pt idx="2">
                    <c:v>16</c:v>
                  </c:pt>
                  <c:pt idx="3">
                    <c:v>24</c:v>
                  </c:pt>
                  <c:pt idx="4">
                    <c:v>32</c:v>
                  </c:pt>
                  <c:pt idx="5">
                    <c:v>48</c:v>
                  </c:pt>
                </c:lvl>
              </c:multiLvlStrCache>
            </c:multiLvlStrRef>
          </c:cat>
          <c:val>
            <c:numRef>
              <c:f>Sheet1!$D$2:$D$7</c:f>
              <c:numCache>
                <c:formatCode>General</c:formatCode>
                <c:ptCount val="6"/>
                <c:pt idx="0">
                  <c:v>0.972</c:v>
                </c:pt>
                <c:pt idx="1">
                  <c:v>0.975</c:v>
                </c:pt>
                <c:pt idx="2">
                  <c:v>0.972</c:v>
                </c:pt>
                <c:pt idx="3">
                  <c:v>0.975</c:v>
                </c:pt>
                <c:pt idx="4">
                  <c:v>0.976</c:v>
                </c:pt>
                <c:pt idx="5">
                  <c:v>0.983</c:v>
                </c:pt>
              </c:numCache>
            </c:numRef>
          </c:val>
          <c:smooth val="0"/>
        </c:ser>
        <c:ser>
          <c:idx val="3"/>
          <c:order val="3"/>
          <c:tx>
            <c:strRef>
              <c:f>Sheet1!$E$1</c:f>
              <c:strCache>
                <c:ptCount val="1"/>
                <c:pt idx="0">
                  <c:v>house</c:v>
                </c:pt>
              </c:strCache>
            </c:strRef>
          </c:tx>
          <c:spPr>
            <a:solidFill>
              <a:srgbClr val="7A4FD6"/>
            </a:solidFill>
            <a:ln w="31750" cap="flat">
              <a:solidFill>
                <a:srgbClr val="7A4FD6"/>
              </a:solidFill>
              <a:prstDash val="solid"/>
              <a:round/>
            </a:ln>
            <a:effectLst/>
          </c:spPr>
          <c:invertIfNegative val="0"/>
          <c:dLbls>
            <c:numFmt formatCode="#,##0" sourceLinked="0"/>
            <c:txPr>
              <a:bodyPr/>
              <a:lstStyle/>
              <a:p>
                <a:pPr>
                  <a:defRPr b="0" i="0" strike="noStrike" sz="1200" u="none">
                    <a:solidFill>
                      <a:srgbClr val="1F2328"/>
                    </a:solidFill>
                    <a:latin typeface="Segoe UI"/>
                  </a:defRPr>
                </a:pPr>
              </a:p>
            </c:txPr>
            <c:showLegendKey val="0"/>
            <c:showVal val="0"/>
            <c:showCatName val="0"/>
            <c:showSerName val="0"/>
            <c:showPercent val="0"/>
            <c:showBubbleSize val="0"/>
            <c:showLeaderLines val="0"/>
          </c:dLbls>
          <c:marker>
            <c:symbol val="circle"/>
            <c:size val="7"/>
            <c:spPr>
              <a:solidFill>
                <a:srgbClr val="7A4FD6"/>
              </a:solidFill>
              <a:ln w="9525" cap="flat">
                <a:solidFill>
                  <a:srgbClr val="7A4FD6"/>
                </a:solidFill>
                <a:prstDash val="solid"/>
                <a:round/>
              </a:ln>
              <a:effectLst/>
            </c:spPr>
          </c:marker>
          <c:cat>
            <c:multiLvlStrRef>
              <c:f>Sheet1!$A$2:$A$7</c:f>
              <c:multiLvlStrCache>
                <c:ptCount val="6"/>
                <c:lvl>
                  <c:pt idx="0">
                    <c:v>0</c:v>
                  </c:pt>
                  <c:pt idx="1">
                    <c:v>8</c:v>
                  </c:pt>
                  <c:pt idx="2">
                    <c:v>16</c:v>
                  </c:pt>
                  <c:pt idx="3">
                    <c:v>24</c:v>
                  </c:pt>
                  <c:pt idx="4">
                    <c:v>32</c:v>
                  </c:pt>
                  <c:pt idx="5">
                    <c:v>48</c:v>
                  </c:pt>
                </c:lvl>
              </c:multiLvlStrCache>
            </c:multiLvlStrRef>
          </c:cat>
          <c:val>
            <c:numRef>
              <c:f>Sheet1!$E$2:$E$7</c:f>
              <c:numCache>
                <c:formatCode>General</c:formatCode>
                <c:ptCount val="6"/>
                <c:pt idx="0">
                  <c:v>0.988</c:v>
                </c:pt>
                <c:pt idx="1">
                  <c:v>0.991</c:v>
                </c:pt>
                <c:pt idx="2">
                  <c:v>0.989</c:v>
                </c:pt>
                <c:pt idx="3">
                  <c:v>0.988</c:v>
                </c:pt>
                <c:pt idx="4">
                  <c:v>0.988</c:v>
                </c:pt>
                <c:pt idx="5">
                  <c:v>0.988</c:v>
                </c:pt>
              </c:numCache>
            </c:numRef>
          </c:val>
          <c:smooth val="0"/>
        </c:ser>
        <c:dLbls>
          <c:numFmt formatCode="#,##0" sourceLinked="0"/>
          <c:txPr>
            <a:bodyPr/>
            <a:lstStyle/>
            <a:p>
              <a:pPr>
                <a:defRPr b="0" i="0" strike="noStrike" sz="1200" u="none">
                  <a:solidFill>
                    <a:srgbClr val="1F2328"/>
                  </a:solidFill>
                  <a:latin typeface="Segoe U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F6672"/>
                    </a:solidFill>
                    <a:latin typeface="Arial"/>
                  </a:defRPr>
                </a:pPr>
                <a:r>
                  <a:rPr sz="1200" b="0" i="0" u="none" strike="noStrike">
                    <a:solidFill>
                      <a:srgbClr val="5F6672"/>
                    </a:solidFill>
                    <a:latin typeface="Arial"/>
                  </a:rPr>
                  <a:t>Noise added to the picture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2"/>
                </a:solidFill>
                <a:latin typeface="Segoe UI"/>
              </a:defRPr>
            </a:pPr>
            <a:endParaRPr lang="en-US"/>
          </a:p>
        </c:txPr>
        <c:crossAx val="2094734552"/>
        <c:crosses val="autoZero"/>
        <c:auto val="1"/>
        <c:lblAlgn val="ctr"/>
        <c:noMultiLvlLbl val="1"/>
      </c:catAx>
      <c:valAx>
        <c:axId val="2094734552"/>
        <c:scaling>
          <c:orientation val="minMax"/>
          <c:max val="1"/>
          <c:min val="0.9"/>
        </c:scaling>
        <c:delete val="0"/>
        <c:axPos val="l"/>
        <c:majorGridlines>
          <c:spPr>
            <a:ln w="6350" cap="flat">
              <a:solidFill>
                <a:srgbClr val="D5D8DD"/>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672"/>
                </a:solidFill>
                <a:latin typeface="Segoe U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F6672"/>
              </a:solidFill>
              <a:latin typeface="Segoe UI"/>
              <a:cs typeface="Segoe U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Segoe UI"/>
              </a:defRPr>
            </a:pPr>
            <a:r>
              <a:rPr sz="1400" b="0" i="0" u="none" strike="noStrike">
                <a:solidFill>
                  <a:srgbClr val="1F2328"/>
                </a:solidFill>
                <a:latin typeface="Segoe UI"/>
              </a:rPr>
              <a:t>A sphere: how far off is the volume? (%)</a:t>
            </a:r>
          </a:p>
        </c:rich>
      </c:tx>
      <c:layout/>
      <c:overlay val="0"/>
    </c:title>
    <c:autoTitleDeleted val="0"/>
    <c:plotArea>
      <c:layout/>
      <c:barChart>
        <c:barDir val="col"/>
        <c:grouping val="clustered"/>
        <c:varyColors val="0"/>
        <c:ser>
          <c:idx val="0"/>
          <c:order val="0"/>
          <c:tx>
            <c:strRef>
              <c:f>Sheet1!$B$1</c:f>
              <c:strCache>
                <c:ptCount val="1"/>
                <c:pt idx="0">
                  <c:v>Volume error</c:v>
                </c:pt>
              </c:strCache>
            </c:strRef>
          </c:tx>
          <c:spPr>
            <a:solidFill>
              <a:srgbClr val="E8590C"/>
            </a:solidFill>
            <a:effectLst/>
          </c:spPr>
          <c:invertIfNegative val="0"/>
          <c:dLbls>
            <c:numFmt formatCode="0.0" sourceLinked="0"/>
            <c:txPr>
              <a:bodyPr/>
              <a:lstStyle/>
              <a:p>
                <a:pPr>
                  <a:defRPr b="0" i="0" strike="noStrike" sz="1200" u="none">
                    <a:solidFill>
                      <a:srgbClr val="1F2328"/>
                    </a:solidFill>
                    <a:latin typeface="Segoe UI"/>
                  </a:defRPr>
                </a:pPr>
              </a:p>
            </c:txPr>
            <c:showLegendKey val="0"/>
            <c:showVal val="1"/>
            <c:showCatName val="0"/>
            <c:showSerName val="0"/>
            <c:showPercent val="0"/>
            <c:showBubbleSize val="0"/>
            <c:showLeaderLines val="0"/>
          </c:dLbls>
          <c:cat>
            <c:multiLvlStrRef>
              <c:f>Sheet1!$A$2:$A$4</c:f>
              <c:multiLvlStrCache>
                <c:ptCount val="3"/>
                <c:lvl>
                  <c:pt idx="0">
                    <c:v>1 view</c:v>
                  </c:pt>
                  <c:pt idx="1">
                    <c:v>2 views</c:v>
                  </c:pt>
                  <c:pt idx="2">
                    <c:v>3 views</c:v>
                  </c:pt>
                </c:lvl>
              </c:multiLvlStrCache>
            </c:multiLvlStrRef>
          </c:cat>
          <c:val>
            <c:numRef>
              <c:f>Sheet1!$B$2:$B$4</c:f>
              <c:numCache>
                <c:formatCode>General</c:formatCode>
                <c:ptCount val="3"/>
                <c:pt idx="0">
                  <c:v>-25.2</c:v>
                </c:pt>
                <c:pt idx="1">
                  <c:v>27</c:v>
                </c:pt>
                <c:pt idx="2">
                  <c:v>11.6</c:v>
                </c:pt>
              </c:numCache>
            </c:numRef>
          </c:val>
        </c:ser>
        <c:dLbls>
          <c:numFmt formatCode="0.0" sourceLinked="0"/>
          <c:txPr>
            <a:bodyPr/>
            <a:lstStyle/>
            <a:p>
              <a:pPr>
                <a:defRPr b="0" i="0" strike="noStrike" sz="1200" u="none">
                  <a:solidFill>
                    <a:srgbClr val="1F2328"/>
                  </a:solidFill>
                  <a:latin typeface="Segoe U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2"/>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8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672"/>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FormFlow turns hand gestures and simple pictures into 3D models using one webcam. The image shows the end result: three pencil drawings of a head, converted into a 3D bust.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then the constraints that make it a computer-vision problem: one RGB camera, no markers, no depth sensor, no custom model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simple: the camera sees, the computer understands, the app builds. The small grey line under each step names the technique, for anyone who wants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camera cannot measure depth. But three outlines of the same object, from the front, the side and the top, do. Each size is seen by two views, so the views must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shake a little and cameras add noise. A filter averages that out. The One-Euro filter smooths slow movement a lot and fast movement a little, so it never feels laggy.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train a network. The pretrained MediaPipe models turn pixels into landmarks; everything after that is our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gestures are simple rules over distances between fingertips, divided by palm size so they work near or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model output glitches. The tracker layer fixes four failure modes. Numbers are from a simulated 300-frame stream with injected glitches.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five stages on a real pencil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IoU is the model-quality metric: overlap divided by union. It measures the tracer against known shapes and the hull against its own drawings.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silhouette extruded along its viewing direction contains the object. Their intersection is the tightest bound from those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sphere is the worst case for a visual hull: two crossed cylinders overestimate by 27%, three by 12%. Our numbers match the theory, which validates the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built-in samples. The head uses real pencil drawings that run off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two landmark networks are off-the-shelf models. The rest of the vision pipeline is our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9EAEC"/>
        </a:solidFill>
      </p:bgPr>
    </p:bg>
    <p:spTree>
      <p:nvGrpSpPr>
        <p:cNvPr id="1" name=""/>
        <p:cNvGrpSpPr/>
        <p:nvPr/>
      </p:nvGrpSpPr>
      <p:grpSpPr>
        <a:xfrm>
          <a:off x="0" y="0"/>
          <a:ext cx="0" cy="0"/>
          <a:chOff x="0" y="0"/>
          <a:chExt cx="0" cy="0"/>
        </a:xfrm>
      </p:grpSpPr>
      <p:sp>
        <p:nvSpPr>
          <p:cNvPr id="2"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100" dirty="0">
                <a:solidFill>
                  <a:srgbClr val="8A919C"/>
                </a:solidFill>
                <a:latin typeface="Segoe UI" pitchFamily="34" charset="0"/>
                <a:ea typeface="Segoe UI" pitchFamily="34" charset="-122"/>
                <a:cs typeface="Segoe UI" pitchFamily="34" charset="-120"/>
              </a:rPr>
              <a:t>FormFlow  ·  Introduction to Computer Vision  ·  S5</a:t>
            </a:r>
            <a:endParaRPr lang="en-US" sz="1100" dirty="0"/>
          </a:p>
        </p:txBody>
      </p:sp>
      <p:sp>
        <p:nvSpPr>
          <p:cNvPr id="3" name="Text 1"/>
          <p:cNvSpPr/>
          <p:nvPr>
            <p:ph idx="101" type="title" hasCustomPrompt="1"/>
          </p:nvPr>
        </p:nvSpPr>
        <p:spPr>
          <a:xfrm>
            <a:off x="548640" y="566928"/>
            <a:ext cx="11064240" cy="731520"/>
          </a:xfrm>
          <a:prstGeom prst="rect">
            <a:avLst/>
          </a:prstGeom>
          <a:noFill/>
          <a:ln/>
        </p:spPr>
        <p:txBody>
          <a:bodyPr wrap="square" rtlCol="0"/>
          <a:lstStyle>
            <a:lvl1pPr algn="l" indent="0" marL="0">
              <a:buNone/>
              <a:defRPr lang="en-US" sz="3200" b="1" dirty="0">
                <a:solidFill>
                  <a:srgbClr val="1F2328"/>
                </a:solidFill>
                <a:latin typeface="Segoe UI" pitchFamily="34" charset="0"/>
                <a:ea typeface="Segoe UI" pitchFamily="34" charset="-122"/>
                <a:cs typeface="Segoe U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E9EAE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05840"/>
            <a:ext cx="5669280" cy="457200"/>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INTRODUCTION TO COMPUTER VISION  ·  PBCMT504  ·  S5</a:t>
            </a:r>
            <a:endParaRPr lang="en-US" sz="1200" dirty="0"/>
          </a:p>
        </p:txBody>
      </p:sp>
      <p:sp>
        <p:nvSpPr>
          <p:cNvPr id="3" name="Text 1"/>
          <p:cNvSpPr txBox="1"/>
          <p:nvPr/>
        </p:nvSpPr>
        <p:spPr>
          <a:xfrm>
            <a:off x="640080" y="1554480"/>
            <a:ext cx="5669280" cy="1097280"/>
          </a:xfrm>
          <a:prstGeom prst="rect">
            <a:avLst/>
          </a:prstGeom>
          <a:noFill/>
          <a:ln/>
        </p:spPr>
        <p:txBody>
          <a:bodyPr wrap="square" lIns="0" tIns="0" rIns="0" bIns="0" rtlCol="0" anchor="t"/>
          <a:lstStyle/>
          <a:p>
            <a:pPr indent="0" marL="0">
              <a:buNone/>
            </a:pPr>
            <a:r>
              <a:rPr lang="en-US" sz="6600" b="1" dirty="0">
                <a:solidFill>
                  <a:srgbClr val="1F2328"/>
                </a:solidFill>
                <a:latin typeface="Segoe UI" pitchFamily="34" charset="0"/>
                <a:ea typeface="Segoe UI" pitchFamily="34" charset="-122"/>
                <a:cs typeface="Segoe UI" pitchFamily="34" charset="-120"/>
              </a:rPr>
              <a:t>FormFlow</a:t>
            </a:r>
            <a:endParaRPr lang="en-US" sz="6600" dirty="0"/>
          </a:p>
        </p:txBody>
      </p:sp>
      <p:sp>
        <p:nvSpPr>
          <p:cNvPr id="4" name="Text 2"/>
          <p:cNvSpPr txBox="1"/>
          <p:nvPr/>
        </p:nvSpPr>
        <p:spPr>
          <a:xfrm>
            <a:off x="640080" y="2697480"/>
            <a:ext cx="5669280" cy="457200"/>
          </a:xfrm>
          <a:prstGeom prst="rect">
            <a:avLst/>
          </a:prstGeom>
          <a:noFill/>
          <a:ln/>
        </p:spPr>
        <p:txBody>
          <a:bodyPr wrap="square" lIns="0" tIns="0" rIns="0" bIns="0" rtlCol="0" anchor="t"/>
          <a:lstStyle/>
          <a:p>
            <a:pPr indent="0" marL="0">
              <a:buNone/>
            </a:pPr>
            <a:r>
              <a:rPr lang="en-US" sz="2400" dirty="0">
                <a:solidFill>
                  <a:srgbClr val="1473E6"/>
                </a:solidFill>
                <a:latin typeface="Segoe UI" pitchFamily="34" charset="0"/>
                <a:ea typeface="Segoe UI" pitchFamily="34" charset="-122"/>
                <a:cs typeface="Segoe UI" pitchFamily="34" charset="-120"/>
              </a:rPr>
              <a:t>Sketch in the air. Build it in 3D.</a:t>
            </a:r>
            <a:endParaRPr lang="en-US" sz="2400" dirty="0"/>
          </a:p>
        </p:txBody>
      </p:sp>
      <p:sp>
        <p:nvSpPr>
          <p:cNvPr id="5" name="Text 3"/>
          <p:cNvSpPr txBox="1"/>
          <p:nvPr/>
        </p:nvSpPr>
        <p:spPr>
          <a:xfrm>
            <a:off x="640080" y="3383280"/>
            <a:ext cx="5394960" cy="914400"/>
          </a:xfrm>
          <a:prstGeom prst="rect">
            <a:avLst/>
          </a:prstGeom>
          <a:noFill/>
          <a:ln/>
        </p:spPr>
        <p:txBody>
          <a:bodyPr wrap="square" lIns="0" tIns="0" rIns="0" bIns="0" rtlCol="0" anchor="t"/>
          <a:lstStyle/>
          <a:p>
            <a:pPr indent="0" marL="0">
              <a:buNone/>
            </a:pPr>
            <a:r>
              <a:rPr lang="en-US" sz="1600" dirty="0">
                <a:solidFill>
                  <a:srgbClr val="5F6672"/>
                </a:solidFill>
                <a:latin typeface="Segoe UI" pitchFamily="34" charset="0"/>
                <a:ea typeface="Segoe UI" pitchFamily="34" charset="-122"/>
                <a:cs typeface="Segoe UI" pitchFamily="34" charset="-120"/>
              </a:rPr>
              <a:t>An easy, fun way for beginners to learn 3D: move your hands, or add a few pictures, and watch a 3D shape appear. One ordinary webcam, in the browser.</a:t>
            </a:r>
            <a:endParaRPr lang="en-US" sz="1600" dirty="0"/>
          </a:p>
        </p:txBody>
      </p:sp>
      <p:sp>
        <p:nvSpPr>
          <p:cNvPr id="6" name="Text 4"/>
          <p:cNvSpPr txBox="1"/>
          <p:nvPr/>
        </p:nvSpPr>
        <p:spPr>
          <a:xfrm>
            <a:off x="640080" y="5120640"/>
            <a:ext cx="5486400" cy="365760"/>
          </a:xfrm>
          <a:prstGeom prst="rect">
            <a:avLst/>
          </a:prstGeom>
          <a:noFill/>
          <a:ln/>
        </p:spPr>
        <p:txBody>
          <a:bodyPr wrap="square" lIns="0" tIns="0" rIns="0" bIns="0" rtlCol="0" anchor="t"/>
          <a:lstStyle/>
          <a:p>
            <a:pPr indent="0" marL="0">
              <a:buNone/>
            </a:pPr>
            <a:r>
              <a:rPr lang="en-US" sz="1600" dirty="0">
                <a:solidFill>
                  <a:srgbClr val="5F6672"/>
                </a:solidFill>
                <a:latin typeface="Segoe UI" pitchFamily="34" charset="0"/>
                <a:ea typeface="Segoe UI" pitchFamily="34" charset="-122"/>
                <a:cs typeface="Segoe UI" pitchFamily="34" charset="-120"/>
              </a:rPr>
              <a:t>Presented by  </a:t>
            </a:r>
            <a:pPr indent="0" marL="0">
              <a:buNone/>
            </a:pPr>
            <a:r>
              <a:rPr lang="en-US" sz="1600" b="1" dirty="0">
                <a:solidFill>
                  <a:srgbClr val="1F2328"/>
                </a:solidFill>
                <a:latin typeface="Segoe UI" pitchFamily="34" charset="0"/>
                <a:ea typeface="Segoe UI" pitchFamily="34" charset="-122"/>
                <a:cs typeface="Segoe UI" pitchFamily="34" charset="-120"/>
              </a:rPr>
              <a:t>Saran S Kumar  ·  453</a:t>
            </a:r>
            <a:endParaRPr lang="en-US" sz="1600" dirty="0"/>
          </a:p>
        </p:txBody>
      </p:sp>
      <p:sp>
        <p:nvSpPr>
          <p:cNvPr id="7" name="Text 5"/>
          <p:cNvSpPr txBox="1"/>
          <p:nvPr/>
        </p:nvSpPr>
        <p:spPr>
          <a:xfrm>
            <a:off x="640080" y="5486400"/>
            <a:ext cx="5486400" cy="365760"/>
          </a:xfrm>
          <a:prstGeom prst="rect">
            <a:avLst/>
          </a:prstGeom>
          <a:noFill/>
          <a:ln/>
        </p:spPr>
        <p:txBody>
          <a:bodyPr wrap="square" lIns="0" tIns="0" rIns="0" bIns="0" rtlCol="0" anchor="t"/>
          <a:lstStyle/>
          <a:p>
            <a:pPr indent="0" marL="0">
              <a:buNone/>
            </a:pPr>
            <a:r>
              <a:rPr lang="en-US" sz="1400" dirty="0">
                <a:solidFill>
                  <a:srgbClr val="5F6672"/>
                </a:solidFill>
                <a:latin typeface="Segoe UI" pitchFamily="34" charset="0"/>
                <a:ea typeface="Segoe UI" pitchFamily="34" charset="-122"/>
                <a:cs typeface="Segoe UI" pitchFamily="34" charset="-120"/>
              </a:rPr>
              <a:t>Project presentation (PBL)</a:t>
            </a:r>
            <a:endParaRPr lang="en-US" sz="1400" dirty="0"/>
          </a:p>
        </p:txBody>
      </p:sp>
      <p:sp>
        <p:nvSpPr>
          <p:cNvPr id="8" name="Shape 6"/>
          <p:cNvSpPr/>
          <p:nvPr/>
        </p:nvSpPr>
        <p:spPr>
          <a:xfrm>
            <a:off x="6318504" y="1380744"/>
            <a:ext cx="5285232" cy="3004947"/>
          </a:xfrm>
          <a:prstGeom prst="roundRect">
            <a:avLst>
              <a:gd name="adj" fmla="val 1826"/>
            </a:avLst>
          </a:prstGeom>
          <a:solidFill>
            <a:srgbClr val="FFFFFF"/>
          </a:solidFill>
          <a:ln w="9525">
            <a:solidFill>
              <a:srgbClr val="D5D8DD"/>
            </a:solidFill>
            <a:prstDash val="solid"/>
          </a:ln>
        </p:spPr>
      </p:sp>
      <p:pic>
        <p:nvPicPr>
          <p:cNvPr id="9" name="Image 0" descr="A 3D head-and-shoulders bust built by FormFlow from three pencil drawings">    </p:cNvPr>
          <p:cNvPicPr>
            <a:picLocks noChangeAspect="1"/>
          </p:cNvPicPr>
          <p:nvPr/>
        </p:nvPicPr>
        <p:blipFill>
          <a:blip r:embed="rId1"/>
          <a:stretch>
            <a:fillRect/>
          </a:stretch>
        </p:blipFill>
        <p:spPr>
          <a:xfrm>
            <a:off x="6355080" y="1417320"/>
            <a:ext cx="5212080" cy="2931795"/>
          </a:xfrm>
          <a:prstGeom prst="rect">
            <a:avLst/>
          </a:prstGeom>
        </p:spPr>
      </p:pic>
      <p:sp>
        <p:nvSpPr>
          <p:cNvPr id="10" name="Text 7"/>
          <p:cNvSpPr txBox="1"/>
          <p:nvPr/>
        </p:nvSpPr>
        <p:spPr>
          <a:xfrm>
            <a:off x="6355080" y="4663440"/>
            <a:ext cx="5212080" cy="274320"/>
          </a:xfrm>
          <a:prstGeom prst="rect">
            <a:avLst/>
          </a:prstGeom>
          <a:noFill/>
          <a:ln/>
        </p:spPr>
        <p:txBody>
          <a:bodyPr wrap="square" lIns="0" tIns="0" rIns="0" bIns="0" rtlCol="0" anchor="t"/>
          <a:lstStyle/>
          <a:p>
            <a:pPr algn="ctr" indent="0" marL="0">
              <a:buNone/>
            </a:pPr>
            <a:r>
              <a:rPr lang="en-US" sz="1300" dirty="0">
                <a:solidFill>
                  <a:srgbClr val="5F6672"/>
                </a:solidFill>
                <a:latin typeface="Segoe UI" pitchFamily="34" charset="0"/>
                <a:ea typeface="Segoe UI" pitchFamily="34" charset="-122"/>
                <a:cs typeface="Segoe UI" pitchFamily="34" charset="-120"/>
              </a:rPr>
              <a:t>Three pencil drawings in, one 3D bust out (96% match)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WHY FORMFLOW</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Learning 3D should be easy and fun</a:t>
            </a:r>
            <a:endParaRPr lang="en-US" sz="3200" dirty="0"/>
          </a:p>
        </p:txBody>
      </p:sp>
      <p:sp>
        <p:nvSpPr>
          <p:cNvPr id="5" name="Shape 2"/>
          <p:cNvSpPr/>
          <p:nvPr/>
        </p:nvSpPr>
        <p:spPr>
          <a:xfrm>
            <a:off x="548640" y="1463040"/>
            <a:ext cx="5029200" cy="1417320"/>
          </a:xfrm>
          <a:prstGeom prst="roundRect">
            <a:avLst>
              <a:gd name="adj" fmla="val 6452"/>
            </a:avLst>
          </a:prstGeom>
          <a:solidFill>
            <a:srgbClr val="FFFFFF"/>
          </a:solidFill>
          <a:ln w="9525">
            <a:solidFill>
              <a:srgbClr val="D5D8DD"/>
            </a:solidFill>
            <a:prstDash val="solid"/>
          </a:ln>
        </p:spPr>
      </p:sp>
      <p:sp>
        <p:nvSpPr>
          <p:cNvPr id="6" name="Text 3"/>
          <p:cNvSpPr txBox="1"/>
          <p:nvPr/>
        </p:nvSpPr>
        <p:spPr>
          <a:xfrm>
            <a:off x="777240" y="1627632"/>
            <a:ext cx="4480560" cy="274320"/>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PROBLEM</a:t>
            </a:r>
            <a:endParaRPr lang="en-US" sz="1200" dirty="0"/>
          </a:p>
        </p:txBody>
      </p:sp>
      <p:sp>
        <p:nvSpPr>
          <p:cNvPr id="7" name="Text 4"/>
          <p:cNvSpPr txBox="1"/>
          <p:nvPr/>
        </p:nvSpPr>
        <p:spPr>
          <a:xfrm>
            <a:off x="777240" y="1938528"/>
            <a:ext cx="4572000" cy="868680"/>
          </a:xfrm>
          <a:prstGeom prst="rect">
            <a:avLst/>
          </a:prstGeom>
          <a:noFill/>
          <a:ln/>
        </p:spPr>
        <p:txBody>
          <a:bodyPr wrap="square" lIns="0" tIns="0" rIns="0" bIns="0" rtlCol="0" anchor="t"/>
          <a:lstStyle/>
          <a:p>
            <a:pPr indent="0" marL="0">
              <a:buNone/>
            </a:pPr>
            <a:r>
              <a:rPr lang="en-US" sz="1500" dirty="0">
                <a:solidFill>
                  <a:srgbClr val="1F2328"/>
                </a:solidFill>
                <a:latin typeface="Segoe UI" pitchFamily="34" charset="0"/>
                <a:ea typeface="Segoe UI" pitchFamily="34" charset="-122"/>
                <a:cs typeface="Segoe UI" pitchFamily="34" charset="-120"/>
              </a:rPr>
              <a:t>CAD tools need training and mouse-and-menu input, so beginners give up before they ever see their idea in 3D.</a:t>
            </a:r>
            <a:endParaRPr lang="en-US" sz="1500" dirty="0"/>
          </a:p>
        </p:txBody>
      </p:sp>
      <p:sp>
        <p:nvSpPr>
          <p:cNvPr id="8" name="Shape 5"/>
          <p:cNvSpPr/>
          <p:nvPr/>
        </p:nvSpPr>
        <p:spPr>
          <a:xfrm>
            <a:off x="548640" y="3063240"/>
            <a:ext cx="5029200" cy="1417320"/>
          </a:xfrm>
          <a:prstGeom prst="roundRect">
            <a:avLst>
              <a:gd name="adj" fmla="val 6452"/>
            </a:avLst>
          </a:prstGeom>
          <a:solidFill>
            <a:srgbClr val="FFFFFF"/>
          </a:solidFill>
          <a:ln w="9525">
            <a:solidFill>
              <a:srgbClr val="D5D8DD"/>
            </a:solidFill>
            <a:prstDash val="solid"/>
          </a:ln>
        </p:spPr>
      </p:sp>
      <p:sp>
        <p:nvSpPr>
          <p:cNvPr id="9" name="Text 6"/>
          <p:cNvSpPr txBox="1"/>
          <p:nvPr/>
        </p:nvSpPr>
        <p:spPr>
          <a:xfrm>
            <a:off x="777240" y="3227832"/>
            <a:ext cx="4480560" cy="274320"/>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CONSTRAINTS</a:t>
            </a:r>
            <a:endParaRPr lang="en-US" sz="1200" dirty="0"/>
          </a:p>
        </p:txBody>
      </p:sp>
      <p:sp>
        <p:nvSpPr>
          <p:cNvPr id="10" name="Text 7"/>
          <p:cNvSpPr txBox="1"/>
          <p:nvPr/>
        </p:nvSpPr>
        <p:spPr>
          <a:xfrm>
            <a:off x="777240" y="3538728"/>
            <a:ext cx="4572000" cy="868680"/>
          </a:xfrm>
          <a:prstGeom prst="rect">
            <a:avLst/>
          </a:prstGeom>
          <a:noFill/>
          <a:ln/>
        </p:spPr>
        <p:txBody>
          <a:bodyPr wrap="square" lIns="0" tIns="0" rIns="0" bIns="0" rtlCol="0" anchor="t"/>
          <a:lstStyle/>
          <a:p>
            <a:pPr indent="0" marL="0">
              <a:buNone/>
            </a:pPr>
            <a:r>
              <a:rPr lang="en-US" sz="1500" dirty="0">
                <a:solidFill>
                  <a:srgbClr val="1F2328"/>
                </a:solidFill>
                <a:latin typeface="Segoe UI" pitchFamily="34" charset="0"/>
                <a:ea typeface="Segoe UI" pitchFamily="34" charset="-122"/>
                <a:cs typeface="Segoe UI" pitchFamily="34" charset="-120"/>
              </a:rPr>
              <a:t>One ordinary webcam. No markers, gloves or depth sensor. No model training. Real time, in a browser.</a:t>
            </a:r>
            <a:endParaRPr lang="en-US" sz="1500" dirty="0"/>
          </a:p>
        </p:txBody>
      </p:sp>
      <p:sp>
        <p:nvSpPr>
          <p:cNvPr id="11" name="Shape 8"/>
          <p:cNvSpPr/>
          <p:nvPr/>
        </p:nvSpPr>
        <p:spPr>
          <a:xfrm>
            <a:off x="548640" y="4663440"/>
            <a:ext cx="5029200" cy="1417320"/>
          </a:xfrm>
          <a:prstGeom prst="roundRect">
            <a:avLst>
              <a:gd name="adj" fmla="val 6452"/>
            </a:avLst>
          </a:prstGeom>
          <a:solidFill>
            <a:srgbClr val="FFFFFF"/>
          </a:solidFill>
          <a:ln w="9525">
            <a:solidFill>
              <a:srgbClr val="D5D8DD"/>
            </a:solidFill>
            <a:prstDash val="solid"/>
          </a:ln>
        </p:spPr>
      </p:sp>
      <p:sp>
        <p:nvSpPr>
          <p:cNvPr id="12" name="Text 9"/>
          <p:cNvSpPr txBox="1"/>
          <p:nvPr/>
        </p:nvSpPr>
        <p:spPr>
          <a:xfrm>
            <a:off x="777240" y="4828032"/>
            <a:ext cx="4480560" cy="274320"/>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GOAL</a:t>
            </a:r>
            <a:endParaRPr lang="en-US" sz="1200" dirty="0"/>
          </a:p>
        </p:txBody>
      </p:sp>
      <p:sp>
        <p:nvSpPr>
          <p:cNvPr id="13" name="Text 10"/>
          <p:cNvSpPr txBox="1"/>
          <p:nvPr/>
        </p:nvSpPr>
        <p:spPr>
          <a:xfrm>
            <a:off x="777240" y="5138928"/>
            <a:ext cx="4572000" cy="868680"/>
          </a:xfrm>
          <a:prstGeom prst="rect">
            <a:avLst/>
          </a:prstGeom>
          <a:noFill/>
          <a:ln/>
        </p:spPr>
        <p:txBody>
          <a:bodyPr wrap="square" lIns="0" tIns="0" rIns="0" bIns="0" rtlCol="0" anchor="t"/>
          <a:lstStyle/>
          <a:p>
            <a:pPr indent="0" marL="0">
              <a:buNone/>
            </a:pPr>
            <a:r>
              <a:rPr lang="en-US" sz="1500" dirty="0">
                <a:solidFill>
                  <a:srgbClr val="1F2328"/>
                </a:solidFill>
                <a:latin typeface="Segoe UI" pitchFamily="34" charset="0"/>
                <a:ea typeface="Segoe UI" pitchFamily="34" charset="-122"/>
                <a:cs typeface="Segoe UI" pitchFamily="34" charset="-120"/>
              </a:rPr>
              <a:t>Make 3D easy and fun to learn: move your hands, or add simple outlines or photos, and get a 3D model you can export (OBJ, STL). No CAD skills needed.</a:t>
            </a:r>
            <a:endParaRPr lang="en-US" sz="1500" dirty="0"/>
          </a:p>
        </p:txBody>
      </p:sp>
      <p:sp>
        <p:nvSpPr>
          <p:cNvPr id="14" name="Shape 11"/>
          <p:cNvSpPr/>
          <p:nvPr/>
        </p:nvSpPr>
        <p:spPr>
          <a:xfrm>
            <a:off x="5861304" y="1517904"/>
            <a:ext cx="5742432" cy="3262122"/>
          </a:xfrm>
          <a:prstGeom prst="roundRect">
            <a:avLst>
              <a:gd name="adj" fmla="val 1682"/>
            </a:avLst>
          </a:prstGeom>
          <a:solidFill>
            <a:srgbClr val="FFFFFF"/>
          </a:solidFill>
          <a:ln w="9525">
            <a:solidFill>
              <a:srgbClr val="D5D8DD"/>
            </a:solidFill>
            <a:prstDash val="solid"/>
          </a:ln>
        </p:spPr>
      </p:sp>
      <p:pic>
        <p:nvPicPr>
          <p:cNvPr id="15" name="Image 0" descr="FormFlow 3D sketch workspace with solids and freehand strokes">    </p:cNvPr>
          <p:cNvPicPr>
            <a:picLocks noChangeAspect="1"/>
          </p:cNvPicPr>
          <p:nvPr/>
        </p:nvPicPr>
        <p:blipFill>
          <a:blip r:embed="rId1"/>
          <a:stretch>
            <a:fillRect/>
          </a:stretch>
        </p:blipFill>
        <p:spPr>
          <a:xfrm>
            <a:off x="5897880" y="1554480"/>
            <a:ext cx="5669280" cy="3188970"/>
          </a:xfrm>
          <a:prstGeom prst="rect">
            <a:avLst/>
          </a:prstGeom>
        </p:spPr>
      </p:pic>
      <p:sp>
        <p:nvSpPr>
          <p:cNvPr id="16" name="Text 12"/>
          <p:cNvSpPr txBox="1"/>
          <p:nvPr/>
        </p:nvSpPr>
        <p:spPr>
          <a:xfrm>
            <a:off x="5897880" y="4892040"/>
            <a:ext cx="5669280" cy="274320"/>
          </a:xfrm>
          <a:prstGeom prst="rect">
            <a:avLst/>
          </a:prstGeom>
          <a:noFill/>
          <a:ln/>
        </p:spPr>
        <p:txBody>
          <a:bodyPr wrap="square" lIns="0" tIns="0" rIns="0" bIns="0" rtlCol="0" anchor="t"/>
          <a:lstStyle/>
          <a:p>
            <a:pPr algn="ctr" indent="0" marL="0">
              <a:buNone/>
            </a:pPr>
            <a:r>
              <a:rPr lang="en-US" sz="1300" dirty="0">
                <a:solidFill>
                  <a:srgbClr val="5F6672"/>
                </a:solidFill>
                <a:latin typeface="Segoe UI" pitchFamily="34" charset="0"/>
                <a:ea typeface="Segoe UI" pitchFamily="34" charset="-122"/>
                <a:cs typeface="Segoe UI" pitchFamily="34" charset="-120"/>
              </a:rPr>
              <a:t>The 3D sketch workspace: solids and strokes drawn with hand gestures</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HOW IT WORKS</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From your hands to a 3D shape, in three steps</a:t>
            </a:r>
            <a:endParaRPr lang="en-US" sz="3200" dirty="0"/>
          </a:p>
        </p:txBody>
      </p:sp>
      <p:sp>
        <p:nvSpPr>
          <p:cNvPr id="5" name="Shape 2"/>
          <p:cNvSpPr/>
          <p:nvPr/>
        </p:nvSpPr>
        <p:spPr>
          <a:xfrm>
            <a:off x="548640" y="1508760"/>
            <a:ext cx="3383280" cy="3657600"/>
          </a:xfrm>
          <a:prstGeom prst="roundRect">
            <a:avLst>
              <a:gd name="adj" fmla="val 2703"/>
            </a:avLst>
          </a:prstGeom>
          <a:solidFill>
            <a:srgbClr val="FFFFFF"/>
          </a:solidFill>
          <a:ln w="9525">
            <a:solidFill>
              <a:srgbClr val="D5D8DD"/>
            </a:solidFill>
            <a:prstDash val="solid"/>
          </a:ln>
        </p:spPr>
      </p:sp>
      <p:sp>
        <p:nvSpPr>
          <p:cNvPr id="6" name="Shape 3"/>
          <p:cNvSpPr/>
          <p:nvPr/>
        </p:nvSpPr>
        <p:spPr>
          <a:xfrm>
            <a:off x="822960" y="1783080"/>
            <a:ext cx="731520" cy="731520"/>
          </a:xfrm>
          <a:prstGeom prst="ellipse">
            <a:avLst/>
          </a:prstGeom>
          <a:solidFill>
            <a:srgbClr val="1473E6"/>
          </a:solidFill>
          <a:ln w="6350">
            <a:solidFill>
              <a:srgbClr val="1473E6"/>
            </a:solidFill>
            <a:prstDash val="solid"/>
          </a:ln>
        </p:spPr>
      </p:sp>
      <p:sp>
        <p:nvSpPr>
          <p:cNvPr id="7" name="Text 4"/>
          <p:cNvSpPr txBox="1"/>
          <p:nvPr/>
        </p:nvSpPr>
        <p:spPr>
          <a:xfrm>
            <a:off x="822960" y="178308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Segoe UI" pitchFamily="34" charset="0"/>
                <a:ea typeface="Segoe UI" pitchFamily="34" charset="-122"/>
                <a:cs typeface="Segoe UI" pitchFamily="34" charset="-120"/>
              </a:rPr>
              <a:t>1</a:t>
            </a:r>
            <a:endParaRPr lang="en-US" sz="2800" dirty="0"/>
          </a:p>
        </p:txBody>
      </p:sp>
      <p:sp>
        <p:nvSpPr>
          <p:cNvPr id="8" name="Text 5"/>
          <p:cNvSpPr txBox="1"/>
          <p:nvPr/>
        </p:nvSpPr>
        <p:spPr>
          <a:xfrm>
            <a:off x="822960" y="2697480"/>
            <a:ext cx="2834640" cy="685800"/>
          </a:xfrm>
          <a:prstGeom prst="rect">
            <a:avLst/>
          </a:prstGeom>
          <a:noFill/>
          <a:ln/>
        </p:spPr>
        <p:txBody>
          <a:bodyPr wrap="square" lIns="0" tIns="0" rIns="0" bIns="0" rtlCol="0" anchor="t"/>
          <a:lstStyle/>
          <a:p>
            <a:pPr indent="0" marL="0">
              <a:buNone/>
            </a:pPr>
            <a:r>
              <a:rPr lang="en-US" sz="2000" b="1" dirty="0">
                <a:solidFill>
                  <a:srgbClr val="1F2328"/>
                </a:solidFill>
                <a:latin typeface="Segoe UI" pitchFamily="34" charset="0"/>
                <a:ea typeface="Segoe UI" pitchFamily="34" charset="-122"/>
                <a:cs typeface="Segoe UI" pitchFamily="34" charset="-120"/>
              </a:rPr>
              <a:t>The camera sees your hands</a:t>
            </a:r>
            <a:endParaRPr lang="en-US" sz="2000" dirty="0"/>
          </a:p>
        </p:txBody>
      </p:sp>
      <p:sp>
        <p:nvSpPr>
          <p:cNvPr id="9" name="Text 6"/>
          <p:cNvSpPr txBox="1"/>
          <p:nvPr/>
        </p:nvSpPr>
        <p:spPr>
          <a:xfrm>
            <a:off x="822960" y="3429000"/>
            <a:ext cx="2834640" cy="1188720"/>
          </a:xfrm>
          <a:prstGeom prst="rect">
            <a:avLst/>
          </a:prstGeom>
          <a:noFill/>
          <a:ln/>
        </p:spPr>
        <p:txBody>
          <a:bodyPr wrap="square" lIns="0" tIns="0" rIns="0" bIns="0" rtlCol="0" anchor="t"/>
          <a:lstStyle/>
          <a:p>
            <a:pPr indent="0" marL="0">
              <a:buNone/>
            </a:pPr>
            <a:r>
              <a:rPr lang="en-US" sz="1500" dirty="0">
                <a:solidFill>
                  <a:srgbClr val="1F2328"/>
                </a:solidFill>
                <a:latin typeface="Segoe UI" pitchFamily="34" charset="0"/>
                <a:ea typeface="Segoe UI" pitchFamily="34" charset="-122"/>
                <a:cs typeface="Segoe UI" pitchFamily="34" charset="-120"/>
              </a:rPr>
              <a:t>A webcam picture goes into an AI that finds 21 points on each hand: fingertips, knuckles and wrist.</a:t>
            </a:r>
            <a:endParaRPr lang="en-US" sz="1500" dirty="0"/>
          </a:p>
        </p:txBody>
      </p:sp>
      <p:sp>
        <p:nvSpPr>
          <p:cNvPr id="10" name="Text 7"/>
          <p:cNvSpPr txBox="1"/>
          <p:nvPr/>
        </p:nvSpPr>
        <p:spPr>
          <a:xfrm>
            <a:off x="822960" y="4709160"/>
            <a:ext cx="2834640" cy="365760"/>
          </a:xfrm>
          <a:prstGeom prst="rect">
            <a:avLst/>
          </a:prstGeom>
          <a:noFill/>
          <a:ln/>
        </p:spPr>
        <p:txBody>
          <a:bodyPr wrap="square" lIns="0" tIns="0" rIns="0" bIns="0" rtlCol="0" anchor="t"/>
          <a:lstStyle/>
          <a:p>
            <a:pPr indent="0" marL="0">
              <a:buNone/>
            </a:pPr>
            <a:r>
              <a:rPr lang="en-US" sz="1200" dirty="0">
                <a:solidFill>
                  <a:srgbClr val="5F6672"/>
                </a:solidFill>
                <a:latin typeface="Segoe UI" pitchFamily="34" charset="0"/>
                <a:ea typeface="Segoe UI" pitchFamily="34" charset="-122"/>
                <a:cs typeface="Segoe UI" pitchFamily="34" charset="-120"/>
              </a:rPr>
              <a:t>Pretrained hand and arm models</a:t>
            </a:r>
            <a:endParaRPr lang="en-US" sz="1200" dirty="0"/>
          </a:p>
        </p:txBody>
      </p:sp>
      <p:sp>
        <p:nvSpPr>
          <p:cNvPr id="11" name="Shape 8"/>
          <p:cNvSpPr/>
          <p:nvPr/>
        </p:nvSpPr>
        <p:spPr>
          <a:xfrm>
            <a:off x="3950208" y="3337560"/>
            <a:ext cx="420624" cy="0"/>
          </a:xfrm>
          <a:prstGeom prst="line">
            <a:avLst/>
          </a:prstGeom>
          <a:noFill/>
          <a:ln w="38100">
            <a:solidFill>
              <a:srgbClr val="1473E6"/>
            </a:solidFill>
            <a:prstDash val="solid"/>
            <a:tailEnd type="triangle"/>
          </a:ln>
        </p:spPr>
      </p:sp>
      <p:sp>
        <p:nvSpPr>
          <p:cNvPr id="12" name="Shape 9"/>
          <p:cNvSpPr/>
          <p:nvPr/>
        </p:nvSpPr>
        <p:spPr>
          <a:xfrm>
            <a:off x="4389120" y="1508760"/>
            <a:ext cx="3383280" cy="3657600"/>
          </a:xfrm>
          <a:prstGeom prst="roundRect">
            <a:avLst>
              <a:gd name="adj" fmla="val 2703"/>
            </a:avLst>
          </a:prstGeom>
          <a:solidFill>
            <a:srgbClr val="FFFFFF"/>
          </a:solidFill>
          <a:ln w="9525">
            <a:solidFill>
              <a:srgbClr val="D5D8DD"/>
            </a:solidFill>
            <a:prstDash val="solid"/>
          </a:ln>
        </p:spPr>
      </p:sp>
      <p:sp>
        <p:nvSpPr>
          <p:cNvPr id="13" name="Shape 10"/>
          <p:cNvSpPr/>
          <p:nvPr/>
        </p:nvSpPr>
        <p:spPr>
          <a:xfrm>
            <a:off x="4663440" y="1783080"/>
            <a:ext cx="731520" cy="731520"/>
          </a:xfrm>
          <a:prstGeom prst="ellipse">
            <a:avLst/>
          </a:prstGeom>
          <a:solidFill>
            <a:srgbClr val="1473E6"/>
          </a:solidFill>
          <a:ln w="6350">
            <a:solidFill>
              <a:srgbClr val="1473E6"/>
            </a:solidFill>
            <a:prstDash val="solid"/>
          </a:ln>
        </p:spPr>
      </p:sp>
      <p:sp>
        <p:nvSpPr>
          <p:cNvPr id="14" name="Text 11"/>
          <p:cNvSpPr txBox="1"/>
          <p:nvPr/>
        </p:nvSpPr>
        <p:spPr>
          <a:xfrm>
            <a:off x="4663440" y="178308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Segoe UI" pitchFamily="34" charset="0"/>
                <a:ea typeface="Segoe UI" pitchFamily="34" charset="-122"/>
                <a:cs typeface="Segoe UI" pitchFamily="34" charset="-120"/>
              </a:rPr>
              <a:t>2</a:t>
            </a:r>
            <a:endParaRPr lang="en-US" sz="2800" dirty="0"/>
          </a:p>
        </p:txBody>
      </p:sp>
      <p:sp>
        <p:nvSpPr>
          <p:cNvPr id="15" name="Text 12"/>
          <p:cNvSpPr txBox="1"/>
          <p:nvPr/>
        </p:nvSpPr>
        <p:spPr>
          <a:xfrm>
            <a:off x="4663440" y="2697480"/>
            <a:ext cx="2834640" cy="685800"/>
          </a:xfrm>
          <a:prstGeom prst="rect">
            <a:avLst/>
          </a:prstGeom>
          <a:noFill/>
          <a:ln/>
        </p:spPr>
        <p:txBody>
          <a:bodyPr wrap="square" lIns="0" tIns="0" rIns="0" bIns="0" rtlCol="0" anchor="t"/>
          <a:lstStyle/>
          <a:p>
            <a:pPr indent="0" marL="0">
              <a:buNone/>
            </a:pPr>
            <a:r>
              <a:rPr lang="en-US" sz="2000" b="1" dirty="0">
                <a:solidFill>
                  <a:srgbClr val="1F2328"/>
                </a:solidFill>
                <a:latin typeface="Segoe UI" pitchFamily="34" charset="0"/>
                <a:ea typeface="Segoe UI" pitchFamily="34" charset="-122"/>
                <a:cs typeface="Segoe UI" pitchFamily="34" charset="-120"/>
              </a:rPr>
              <a:t>Your moves become commands</a:t>
            </a:r>
            <a:endParaRPr lang="en-US" sz="2000" dirty="0"/>
          </a:p>
        </p:txBody>
      </p:sp>
      <p:sp>
        <p:nvSpPr>
          <p:cNvPr id="16" name="Text 13"/>
          <p:cNvSpPr txBox="1"/>
          <p:nvPr/>
        </p:nvSpPr>
        <p:spPr>
          <a:xfrm>
            <a:off x="4663440" y="3429000"/>
            <a:ext cx="2834640" cy="1188720"/>
          </a:xfrm>
          <a:prstGeom prst="rect">
            <a:avLst/>
          </a:prstGeom>
          <a:noFill/>
          <a:ln/>
        </p:spPr>
        <p:txBody>
          <a:bodyPr wrap="square" lIns="0" tIns="0" rIns="0" bIns="0" rtlCol="0" anchor="t"/>
          <a:lstStyle/>
          <a:p>
            <a:pPr indent="0" marL="0">
              <a:buNone/>
            </a:pPr>
            <a:r>
              <a:rPr lang="en-US" sz="1500" dirty="0">
                <a:solidFill>
                  <a:srgbClr val="1F2328"/>
                </a:solidFill>
                <a:latin typeface="Segoe UI" pitchFamily="34" charset="0"/>
                <a:ea typeface="Segoe UI" pitchFamily="34" charset="-122"/>
                <a:cs typeface="Segoe UI" pitchFamily="34" charset="-120"/>
              </a:rPr>
              <a:t>Pinch to draw. Make a fist to turn the view. A filter smooths out hand shake, so lines come out clean.</a:t>
            </a:r>
            <a:endParaRPr lang="en-US" sz="1500" dirty="0"/>
          </a:p>
        </p:txBody>
      </p:sp>
      <p:sp>
        <p:nvSpPr>
          <p:cNvPr id="17" name="Text 14"/>
          <p:cNvSpPr txBox="1"/>
          <p:nvPr/>
        </p:nvSpPr>
        <p:spPr>
          <a:xfrm>
            <a:off x="4663440" y="4709160"/>
            <a:ext cx="2834640" cy="365760"/>
          </a:xfrm>
          <a:prstGeom prst="rect">
            <a:avLst/>
          </a:prstGeom>
          <a:noFill/>
          <a:ln/>
        </p:spPr>
        <p:txBody>
          <a:bodyPr wrap="square" lIns="0" tIns="0" rIns="0" bIns="0" rtlCol="0" anchor="t"/>
          <a:lstStyle/>
          <a:p>
            <a:pPr indent="0" marL="0">
              <a:buNone/>
            </a:pPr>
            <a:r>
              <a:rPr lang="en-US" sz="1200" dirty="0">
                <a:solidFill>
                  <a:srgbClr val="5F6672"/>
                </a:solidFill>
                <a:latin typeface="Segoe UI" pitchFamily="34" charset="0"/>
                <a:ea typeface="Segoe UI" pitchFamily="34" charset="-122"/>
                <a:cs typeface="Segoe UI" pitchFamily="34" charset="-120"/>
              </a:rPr>
              <a:t>Gesture rules and a smoothing filter</a:t>
            </a:r>
            <a:endParaRPr lang="en-US" sz="1200" dirty="0"/>
          </a:p>
        </p:txBody>
      </p:sp>
      <p:sp>
        <p:nvSpPr>
          <p:cNvPr id="18" name="Shape 15"/>
          <p:cNvSpPr/>
          <p:nvPr/>
        </p:nvSpPr>
        <p:spPr>
          <a:xfrm>
            <a:off x="7790688" y="3337560"/>
            <a:ext cx="420624" cy="0"/>
          </a:xfrm>
          <a:prstGeom prst="line">
            <a:avLst/>
          </a:prstGeom>
          <a:noFill/>
          <a:ln w="38100">
            <a:solidFill>
              <a:srgbClr val="1473E6"/>
            </a:solidFill>
            <a:prstDash val="solid"/>
            <a:tailEnd type="triangle"/>
          </a:ln>
        </p:spPr>
      </p:sp>
      <p:sp>
        <p:nvSpPr>
          <p:cNvPr id="19" name="Shape 16"/>
          <p:cNvSpPr/>
          <p:nvPr/>
        </p:nvSpPr>
        <p:spPr>
          <a:xfrm>
            <a:off x="8229600" y="1508760"/>
            <a:ext cx="3383280" cy="3657600"/>
          </a:xfrm>
          <a:prstGeom prst="roundRect">
            <a:avLst>
              <a:gd name="adj" fmla="val 2703"/>
            </a:avLst>
          </a:prstGeom>
          <a:solidFill>
            <a:srgbClr val="FFFFFF"/>
          </a:solidFill>
          <a:ln w="9525">
            <a:solidFill>
              <a:srgbClr val="D5D8DD"/>
            </a:solidFill>
            <a:prstDash val="solid"/>
          </a:ln>
        </p:spPr>
      </p:sp>
      <p:sp>
        <p:nvSpPr>
          <p:cNvPr id="20" name="Shape 17"/>
          <p:cNvSpPr/>
          <p:nvPr/>
        </p:nvSpPr>
        <p:spPr>
          <a:xfrm>
            <a:off x="8503920" y="1783080"/>
            <a:ext cx="731520" cy="731520"/>
          </a:xfrm>
          <a:prstGeom prst="ellipse">
            <a:avLst/>
          </a:prstGeom>
          <a:solidFill>
            <a:srgbClr val="1473E6"/>
          </a:solidFill>
          <a:ln w="6350">
            <a:solidFill>
              <a:srgbClr val="1473E6"/>
            </a:solidFill>
            <a:prstDash val="solid"/>
          </a:ln>
        </p:spPr>
      </p:sp>
      <p:sp>
        <p:nvSpPr>
          <p:cNvPr id="21" name="Text 18"/>
          <p:cNvSpPr txBox="1"/>
          <p:nvPr/>
        </p:nvSpPr>
        <p:spPr>
          <a:xfrm>
            <a:off x="8503920" y="178308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Segoe UI" pitchFamily="34" charset="0"/>
                <a:ea typeface="Segoe UI" pitchFamily="34" charset="-122"/>
                <a:cs typeface="Segoe UI" pitchFamily="34" charset="-120"/>
              </a:rPr>
              <a:t>3</a:t>
            </a:r>
            <a:endParaRPr lang="en-US" sz="2800" dirty="0"/>
          </a:p>
        </p:txBody>
      </p:sp>
      <p:sp>
        <p:nvSpPr>
          <p:cNvPr id="22" name="Text 19"/>
          <p:cNvSpPr txBox="1"/>
          <p:nvPr/>
        </p:nvSpPr>
        <p:spPr>
          <a:xfrm>
            <a:off x="8503920" y="2697480"/>
            <a:ext cx="2834640" cy="685800"/>
          </a:xfrm>
          <a:prstGeom prst="rect">
            <a:avLst/>
          </a:prstGeom>
          <a:noFill/>
          <a:ln/>
        </p:spPr>
        <p:txBody>
          <a:bodyPr wrap="square" lIns="0" tIns="0" rIns="0" bIns="0" rtlCol="0" anchor="t"/>
          <a:lstStyle/>
          <a:p>
            <a:pPr indent="0" marL="0">
              <a:buNone/>
            </a:pPr>
            <a:r>
              <a:rPr lang="en-US" sz="2000" b="1" dirty="0">
                <a:solidFill>
                  <a:srgbClr val="1F2328"/>
                </a:solidFill>
                <a:latin typeface="Segoe UI" pitchFamily="34" charset="0"/>
                <a:ea typeface="Segoe UI" pitchFamily="34" charset="-122"/>
                <a:cs typeface="Segoe UI" pitchFamily="34" charset="-120"/>
              </a:rPr>
              <a:t>Pictures become a 3D shape</a:t>
            </a:r>
            <a:endParaRPr lang="en-US" sz="2000" dirty="0"/>
          </a:p>
        </p:txBody>
      </p:sp>
      <p:sp>
        <p:nvSpPr>
          <p:cNvPr id="23" name="Text 20"/>
          <p:cNvSpPr txBox="1"/>
          <p:nvPr/>
        </p:nvSpPr>
        <p:spPr>
          <a:xfrm>
            <a:off x="8503920" y="3429000"/>
            <a:ext cx="2834640" cy="1188720"/>
          </a:xfrm>
          <a:prstGeom prst="rect">
            <a:avLst/>
          </a:prstGeom>
          <a:noFill/>
          <a:ln/>
        </p:spPr>
        <p:txBody>
          <a:bodyPr wrap="square" lIns="0" tIns="0" rIns="0" bIns="0" rtlCol="0" anchor="t"/>
          <a:lstStyle/>
          <a:p>
            <a:pPr indent="0" marL="0">
              <a:buNone/>
            </a:pPr>
            <a:r>
              <a:rPr lang="en-US" sz="1500" dirty="0">
                <a:solidFill>
                  <a:srgbClr val="1F2328"/>
                </a:solidFill>
                <a:latin typeface="Segoe UI" pitchFamily="34" charset="0"/>
                <a:ea typeface="Segoe UI" pitchFamily="34" charset="-122"/>
                <a:cs typeface="Segoe UI" pitchFamily="34" charset="-120"/>
              </a:rPr>
              <a:t>Outlines from the front, side and top views, drawn by hand or found in photos, are crossed to make a solid you can save.</a:t>
            </a:r>
            <a:endParaRPr lang="en-US" sz="1500" dirty="0"/>
          </a:p>
        </p:txBody>
      </p:sp>
      <p:sp>
        <p:nvSpPr>
          <p:cNvPr id="24" name="Text 21"/>
          <p:cNvSpPr txBox="1"/>
          <p:nvPr/>
        </p:nvSpPr>
        <p:spPr>
          <a:xfrm>
            <a:off x="8503920" y="4709160"/>
            <a:ext cx="2834640" cy="365760"/>
          </a:xfrm>
          <a:prstGeom prst="rect">
            <a:avLst/>
          </a:prstGeom>
          <a:noFill/>
          <a:ln/>
        </p:spPr>
        <p:txBody>
          <a:bodyPr wrap="square" lIns="0" tIns="0" rIns="0" bIns="0" rtlCol="0" anchor="t"/>
          <a:lstStyle/>
          <a:p>
            <a:pPr indent="0" marL="0">
              <a:buNone/>
            </a:pPr>
            <a:r>
              <a:rPr lang="en-US" sz="1200" dirty="0">
                <a:solidFill>
                  <a:srgbClr val="5F6672"/>
                </a:solidFill>
                <a:latin typeface="Segoe UI" pitchFamily="34" charset="0"/>
                <a:ea typeface="Segoe UI" pitchFamily="34" charset="-122"/>
                <a:cs typeface="Segoe UI" pitchFamily="34" charset="-120"/>
              </a:rPr>
              <a:t>Silhouettes, visual hull, export</a:t>
            </a:r>
            <a:endParaRPr lang="en-US" sz="1200" dirty="0"/>
          </a:p>
        </p:txBody>
      </p:sp>
      <p:sp>
        <p:nvSpPr>
          <p:cNvPr id="25" name="Shape 22"/>
          <p:cNvSpPr/>
          <p:nvPr/>
        </p:nvSpPr>
        <p:spPr>
          <a:xfrm>
            <a:off x="548640" y="5440680"/>
            <a:ext cx="11091672" cy="777240"/>
          </a:xfrm>
          <a:prstGeom prst="roundRect">
            <a:avLst>
              <a:gd name="adj" fmla="val 11765"/>
            </a:avLst>
          </a:prstGeom>
          <a:solidFill>
            <a:srgbClr val="F3F4F6"/>
          </a:solidFill>
          <a:ln w="9525">
            <a:solidFill>
              <a:srgbClr val="D5D8DD"/>
            </a:solidFill>
            <a:prstDash val="solid"/>
          </a:ln>
        </p:spPr>
      </p:sp>
      <p:sp>
        <p:nvSpPr>
          <p:cNvPr id="26" name="Text 23"/>
          <p:cNvSpPr txBox="1"/>
          <p:nvPr/>
        </p:nvSpPr>
        <p:spPr>
          <a:xfrm>
            <a:off x="777240" y="5596128"/>
            <a:ext cx="10607040" cy="502920"/>
          </a:xfrm>
          <a:prstGeom prst="rect">
            <a:avLst/>
          </a:prstGeom>
          <a:noFill/>
          <a:ln/>
        </p:spPr>
        <p:txBody>
          <a:bodyPr wrap="square" lIns="0" tIns="0" rIns="0" bIns="0" rtlCol="0" anchor="t"/>
          <a:lstStyle/>
          <a:p>
            <a:pPr indent="0" marL="0">
              <a:buNone/>
            </a:pPr>
            <a:r>
              <a:rPr lang="en-US" sz="1600" b="1" dirty="0">
                <a:solidFill>
                  <a:srgbClr val="1473E6"/>
                </a:solidFill>
                <a:latin typeface="Segoe UI" pitchFamily="34" charset="0"/>
                <a:ea typeface="Segoe UI" pitchFamily="34" charset="-122"/>
                <a:cs typeface="Segoe UI" pitchFamily="34" charset="-120"/>
              </a:rPr>
              <a:t>No special equipment:  </a:t>
            </a:r>
            <a:pPr indent="0" marL="0">
              <a:buNone/>
            </a:pPr>
            <a:r>
              <a:rPr lang="en-US" sz="1600" dirty="0">
                <a:solidFill>
                  <a:srgbClr val="1F2328"/>
                </a:solidFill>
                <a:latin typeface="Segoe UI" pitchFamily="34" charset="0"/>
                <a:ea typeface="Segoe UI" pitchFamily="34" charset="-122"/>
                <a:cs typeface="Segoe UI" pitchFamily="34" charset="-120"/>
              </a:rPr>
              <a:t>an ordinary webcam and a browser. No depth camera, no gloves and no training data.</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SEEING DEPTH WITH ONE CAMERA</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Three views tell us how big a thing is</a:t>
            </a:r>
            <a:endParaRPr lang="en-US" sz="3200" dirty="0"/>
          </a:p>
        </p:txBody>
      </p:sp>
      <p:sp>
        <p:nvSpPr>
          <p:cNvPr id="5" name="Shape 2"/>
          <p:cNvSpPr/>
          <p:nvPr/>
        </p:nvSpPr>
        <p:spPr>
          <a:xfrm>
            <a:off x="5952744" y="1517904"/>
            <a:ext cx="5696712" cy="3236405"/>
          </a:xfrm>
          <a:prstGeom prst="roundRect">
            <a:avLst>
              <a:gd name="adj" fmla="val 1695"/>
            </a:avLst>
          </a:prstGeom>
          <a:solidFill>
            <a:srgbClr val="FFFFFF"/>
          </a:solidFill>
          <a:ln w="9525">
            <a:solidFill>
              <a:srgbClr val="D5D8DD"/>
            </a:solidFill>
            <a:prstDash val="solid"/>
          </a:ln>
        </p:spPr>
      </p:sp>
      <p:pic>
        <p:nvPicPr>
          <p:cNvPr id="6" name="Image 0" descr="Front, Side and Top drawing cells with a live 3D preview">    </p:cNvPr>
          <p:cNvPicPr>
            <a:picLocks noChangeAspect="1"/>
          </p:cNvPicPr>
          <p:nvPr/>
        </p:nvPicPr>
        <p:blipFill>
          <a:blip r:embed="rId1"/>
          <a:stretch>
            <a:fillRect/>
          </a:stretch>
        </p:blipFill>
        <p:spPr>
          <a:xfrm>
            <a:off x="5989320" y="1554480"/>
            <a:ext cx="5623560" cy="3163253"/>
          </a:xfrm>
          <a:prstGeom prst="rect">
            <a:avLst/>
          </a:prstGeom>
        </p:spPr>
      </p:pic>
      <p:sp>
        <p:nvSpPr>
          <p:cNvPr id="7" name="Text 3"/>
          <p:cNvSpPr txBox="1"/>
          <p:nvPr/>
        </p:nvSpPr>
        <p:spPr>
          <a:xfrm>
            <a:off x="5989320" y="4846320"/>
            <a:ext cx="5623560" cy="274320"/>
          </a:xfrm>
          <a:prstGeom prst="rect">
            <a:avLst/>
          </a:prstGeom>
          <a:noFill/>
          <a:ln/>
        </p:spPr>
        <p:txBody>
          <a:bodyPr wrap="square" lIns="0" tIns="0" rIns="0" bIns="0" rtlCol="0" anchor="t"/>
          <a:lstStyle/>
          <a:p>
            <a:pPr algn="ctr" indent="0" marL="0">
              <a:buNone/>
            </a:pPr>
            <a:r>
              <a:rPr lang="en-US" sz="1300" dirty="0">
                <a:solidFill>
                  <a:srgbClr val="5F6672"/>
                </a:solidFill>
                <a:latin typeface="Segoe UI" pitchFamily="34" charset="0"/>
                <a:ea typeface="Segoe UI" pitchFamily="34" charset="-122"/>
                <a:cs typeface="Segoe UI" pitchFamily="34" charset="-120"/>
              </a:rPr>
              <a:t>Front, Side and Top, with a live 3D preview</a:t>
            </a:r>
            <a:endParaRPr lang="en-US" sz="1300" dirty="0"/>
          </a:p>
        </p:txBody>
      </p:sp>
      <p:sp>
        <p:nvSpPr>
          <p:cNvPr id="8" name="Shape 4"/>
          <p:cNvSpPr/>
          <p:nvPr/>
        </p:nvSpPr>
        <p:spPr>
          <a:xfrm>
            <a:off x="548640" y="1554480"/>
            <a:ext cx="5120640" cy="731520"/>
          </a:xfrm>
          <a:prstGeom prst="roundRect">
            <a:avLst>
              <a:gd name="adj" fmla="val 12500"/>
            </a:avLst>
          </a:prstGeom>
          <a:solidFill>
            <a:srgbClr val="FFFFFF"/>
          </a:solidFill>
          <a:ln w="9525">
            <a:solidFill>
              <a:srgbClr val="D5D8DD"/>
            </a:solidFill>
            <a:prstDash val="solid"/>
          </a:ln>
        </p:spPr>
      </p:sp>
      <p:sp>
        <p:nvSpPr>
          <p:cNvPr id="9" name="Text 5"/>
          <p:cNvSpPr txBox="1"/>
          <p:nvPr/>
        </p:nvSpPr>
        <p:spPr>
          <a:xfrm>
            <a:off x="777240" y="1664208"/>
            <a:ext cx="1828800" cy="512064"/>
          </a:xfrm>
          <a:prstGeom prst="rect">
            <a:avLst/>
          </a:prstGeom>
          <a:noFill/>
          <a:ln/>
        </p:spPr>
        <p:txBody>
          <a:bodyPr wrap="square" lIns="0" tIns="0" rIns="0" bIns="0" rtlCol="0" anchor="ctr"/>
          <a:lstStyle/>
          <a:p>
            <a:pPr indent="0" marL="0">
              <a:buNone/>
            </a:pPr>
            <a:r>
              <a:rPr lang="en-US" sz="1800" b="1" dirty="0">
                <a:solidFill>
                  <a:srgbClr val="1473E6"/>
                </a:solidFill>
                <a:latin typeface="Segoe UI" pitchFamily="34" charset="0"/>
                <a:ea typeface="Segoe UI" pitchFamily="34" charset="-122"/>
                <a:cs typeface="Segoe UI" pitchFamily="34" charset="-120"/>
              </a:rPr>
              <a:t>Front view</a:t>
            </a:r>
            <a:endParaRPr lang="en-US" sz="1800" dirty="0"/>
          </a:p>
        </p:txBody>
      </p:sp>
      <p:sp>
        <p:nvSpPr>
          <p:cNvPr id="10" name="Text 6"/>
          <p:cNvSpPr txBox="1"/>
          <p:nvPr/>
        </p:nvSpPr>
        <p:spPr>
          <a:xfrm>
            <a:off x="2514600" y="1664208"/>
            <a:ext cx="3017520" cy="512064"/>
          </a:xfrm>
          <a:prstGeom prst="rect">
            <a:avLst/>
          </a:prstGeom>
          <a:noFill/>
          <a:ln/>
        </p:spPr>
        <p:txBody>
          <a:bodyPr wrap="square" lIns="0" tIns="0" rIns="0" bIns="0" rtlCol="0" anchor="ctr"/>
          <a:lstStyle/>
          <a:p>
            <a:pPr indent="0" marL="0">
              <a:buNone/>
            </a:pPr>
            <a:r>
              <a:rPr lang="en-US" sz="1600" dirty="0">
                <a:solidFill>
                  <a:srgbClr val="1F2328"/>
                </a:solidFill>
                <a:latin typeface="Segoe UI" pitchFamily="34" charset="0"/>
                <a:ea typeface="Segoe UI" pitchFamily="34" charset="-122"/>
                <a:cs typeface="Segoe UI" pitchFamily="34" charset="-120"/>
              </a:rPr>
              <a:t>shows width and height</a:t>
            </a:r>
            <a:endParaRPr lang="en-US" sz="1600" dirty="0"/>
          </a:p>
        </p:txBody>
      </p:sp>
      <p:sp>
        <p:nvSpPr>
          <p:cNvPr id="11" name="Shape 7"/>
          <p:cNvSpPr/>
          <p:nvPr/>
        </p:nvSpPr>
        <p:spPr>
          <a:xfrm>
            <a:off x="548640" y="2423160"/>
            <a:ext cx="5120640" cy="731520"/>
          </a:xfrm>
          <a:prstGeom prst="roundRect">
            <a:avLst>
              <a:gd name="adj" fmla="val 12500"/>
            </a:avLst>
          </a:prstGeom>
          <a:solidFill>
            <a:srgbClr val="FFFFFF"/>
          </a:solidFill>
          <a:ln w="9525">
            <a:solidFill>
              <a:srgbClr val="D5D8DD"/>
            </a:solidFill>
            <a:prstDash val="solid"/>
          </a:ln>
        </p:spPr>
      </p:sp>
      <p:sp>
        <p:nvSpPr>
          <p:cNvPr id="12" name="Text 8"/>
          <p:cNvSpPr txBox="1"/>
          <p:nvPr/>
        </p:nvSpPr>
        <p:spPr>
          <a:xfrm>
            <a:off x="777240" y="2532888"/>
            <a:ext cx="1828800" cy="512064"/>
          </a:xfrm>
          <a:prstGeom prst="rect">
            <a:avLst/>
          </a:prstGeom>
          <a:noFill/>
          <a:ln/>
        </p:spPr>
        <p:txBody>
          <a:bodyPr wrap="square" lIns="0" tIns="0" rIns="0" bIns="0" rtlCol="0" anchor="ctr"/>
          <a:lstStyle/>
          <a:p>
            <a:pPr indent="0" marL="0">
              <a:buNone/>
            </a:pPr>
            <a:r>
              <a:rPr lang="en-US" sz="1800" b="1" dirty="0">
                <a:solidFill>
                  <a:srgbClr val="1473E6"/>
                </a:solidFill>
                <a:latin typeface="Segoe UI" pitchFamily="34" charset="0"/>
                <a:ea typeface="Segoe UI" pitchFamily="34" charset="-122"/>
                <a:cs typeface="Segoe UI" pitchFamily="34" charset="-120"/>
              </a:rPr>
              <a:t>Side view</a:t>
            </a:r>
            <a:endParaRPr lang="en-US" sz="1800" dirty="0"/>
          </a:p>
        </p:txBody>
      </p:sp>
      <p:sp>
        <p:nvSpPr>
          <p:cNvPr id="13" name="Text 9"/>
          <p:cNvSpPr txBox="1"/>
          <p:nvPr/>
        </p:nvSpPr>
        <p:spPr>
          <a:xfrm>
            <a:off x="2514600" y="2532888"/>
            <a:ext cx="3017520" cy="512064"/>
          </a:xfrm>
          <a:prstGeom prst="rect">
            <a:avLst/>
          </a:prstGeom>
          <a:noFill/>
          <a:ln/>
        </p:spPr>
        <p:txBody>
          <a:bodyPr wrap="square" lIns="0" tIns="0" rIns="0" bIns="0" rtlCol="0" anchor="ctr"/>
          <a:lstStyle/>
          <a:p>
            <a:pPr indent="0" marL="0">
              <a:buNone/>
            </a:pPr>
            <a:r>
              <a:rPr lang="en-US" sz="1600" dirty="0">
                <a:solidFill>
                  <a:srgbClr val="1F2328"/>
                </a:solidFill>
                <a:latin typeface="Segoe UI" pitchFamily="34" charset="0"/>
                <a:ea typeface="Segoe UI" pitchFamily="34" charset="-122"/>
                <a:cs typeface="Segoe UI" pitchFamily="34" charset="-120"/>
              </a:rPr>
              <a:t>shows depth and height</a:t>
            </a:r>
            <a:endParaRPr lang="en-US" sz="1600" dirty="0"/>
          </a:p>
        </p:txBody>
      </p:sp>
      <p:sp>
        <p:nvSpPr>
          <p:cNvPr id="14" name="Shape 10"/>
          <p:cNvSpPr/>
          <p:nvPr/>
        </p:nvSpPr>
        <p:spPr>
          <a:xfrm>
            <a:off x="548640" y="3291840"/>
            <a:ext cx="5120640" cy="731520"/>
          </a:xfrm>
          <a:prstGeom prst="roundRect">
            <a:avLst>
              <a:gd name="adj" fmla="val 12500"/>
            </a:avLst>
          </a:prstGeom>
          <a:solidFill>
            <a:srgbClr val="FFFFFF"/>
          </a:solidFill>
          <a:ln w="9525">
            <a:solidFill>
              <a:srgbClr val="D5D8DD"/>
            </a:solidFill>
            <a:prstDash val="solid"/>
          </a:ln>
        </p:spPr>
      </p:sp>
      <p:sp>
        <p:nvSpPr>
          <p:cNvPr id="15" name="Text 11"/>
          <p:cNvSpPr txBox="1"/>
          <p:nvPr/>
        </p:nvSpPr>
        <p:spPr>
          <a:xfrm>
            <a:off x="777240" y="3401568"/>
            <a:ext cx="1828800" cy="512064"/>
          </a:xfrm>
          <a:prstGeom prst="rect">
            <a:avLst/>
          </a:prstGeom>
          <a:noFill/>
          <a:ln/>
        </p:spPr>
        <p:txBody>
          <a:bodyPr wrap="square" lIns="0" tIns="0" rIns="0" bIns="0" rtlCol="0" anchor="ctr"/>
          <a:lstStyle/>
          <a:p>
            <a:pPr indent="0" marL="0">
              <a:buNone/>
            </a:pPr>
            <a:r>
              <a:rPr lang="en-US" sz="1800" b="1" dirty="0">
                <a:solidFill>
                  <a:srgbClr val="1473E6"/>
                </a:solidFill>
                <a:latin typeface="Segoe UI" pitchFamily="34" charset="0"/>
                <a:ea typeface="Segoe UI" pitchFamily="34" charset="-122"/>
                <a:cs typeface="Segoe UI" pitchFamily="34" charset="-120"/>
              </a:rPr>
              <a:t>Top view</a:t>
            </a:r>
            <a:endParaRPr lang="en-US" sz="1800" dirty="0"/>
          </a:p>
        </p:txBody>
      </p:sp>
      <p:sp>
        <p:nvSpPr>
          <p:cNvPr id="16" name="Text 12"/>
          <p:cNvSpPr txBox="1"/>
          <p:nvPr/>
        </p:nvSpPr>
        <p:spPr>
          <a:xfrm>
            <a:off x="2514600" y="3401568"/>
            <a:ext cx="3017520" cy="512064"/>
          </a:xfrm>
          <a:prstGeom prst="rect">
            <a:avLst/>
          </a:prstGeom>
          <a:noFill/>
          <a:ln/>
        </p:spPr>
        <p:txBody>
          <a:bodyPr wrap="square" lIns="0" tIns="0" rIns="0" bIns="0" rtlCol="0" anchor="ctr"/>
          <a:lstStyle/>
          <a:p>
            <a:pPr indent="0" marL="0">
              <a:buNone/>
            </a:pPr>
            <a:r>
              <a:rPr lang="en-US" sz="1600" dirty="0">
                <a:solidFill>
                  <a:srgbClr val="1F2328"/>
                </a:solidFill>
                <a:latin typeface="Segoe UI" pitchFamily="34" charset="0"/>
                <a:ea typeface="Segoe UI" pitchFamily="34" charset="-122"/>
                <a:cs typeface="Segoe UI" pitchFamily="34" charset="-120"/>
              </a:rPr>
              <a:t>shows width and depth</a:t>
            </a:r>
            <a:endParaRPr lang="en-US" sz="1600" dirty="0"/>
          </a:p>
        </p:txBody>
      </p:sp>
      <p:sp>
        <p:nvSpPr>
          <p:cNvPr id="17" name="Text 13"/>
          <p:cNvSpPr txBox="1"/>
          <p:nvPr/>
        </p:nvSpPr>
        <p:spPr>
          <a:xfrm>
            <a:off x="548640" y="4297680"/>
            <a:ext cx="5212080" cy="201168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1F2328"/>
                </a:solidFill>
                <a:latin typeface="Segoe UI" pitchFamily="34" charset="0"/>
                <a:ea typeface="Segoe UI" pitchFamily="34" charset="-122"/>
                <a:cs typeface="Segoe UI" pitchFamily="34" charset="-120"/>
              </a:rPr>
              <a:t>Every size is seen by two views, so the views can check each other.</a:t>
            </a:r>
            <a:endParaRPr lang="en-US" sz="1600" dirty="0"/>
          </a:p>
          <a:p>
            <a:pPr marL="203200" indent="-203200">
              <a:spcAft>
                <a:spcPts val="1000"/>
              </a:spcAft>
              <a:buSzPct val="100000"/>
              <a:buChar char="•"/>
            </a:pPr>
            <a:r>
              <a:rPr lang="en-US" sz="1600" dirty="0">
                <a:solidFill>
                  <a:srgbClr val="1F2328"/>
                </a:solidFill>
                <a:latin typeface="Segoe UI" pitchFamily="34" charset="0"/>
                <a:ea typeface="Segoe UI" pitchFamily="34" charset="-122"/>
                <a:cs typeface="Segoe UI" pitchFamily="34" charset="-120"/>
              </a:rPr>
              <a:t>If they disagree a lot, the app warns you.</a:t>
            </a:r>
            <a:endParaRPr lang="en-US" sz="1600" dirty="0"/>
          </a:p>
          <a:p>
            <a:pPr marL="203200" indent="-203200">
              <a:spcAft>
                <a:spcPts val="1000"/>
              </a:spcAft>
              <a:buSzPct val="100000"/>
              <a:buChar char="•"/>
            </a:pPr>
            <a:r>
              <a:rPr lang="en-US" sz="1600" dirty="0">
                <a:solidFill>
                  <a:srgbClr val="1F2328"/>
                </a:solidFill>
                <a:latin typeface="Segoe UI" pitchFamily="34" charset="0"/>
                <a:ea typeface="Segoe UI" pitchFamily="34" charset="-122"/>
                <a:cs typeface="Segoe UI" pitchFamily="34" charset="-120"/>
              </a:rPr>
              <a:t>One camera cannot see depth, so three outlines do the job.</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CLEANING UP NOISE</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Smoothing a shaky cursor</a:t>
            </a:r>
            <a:endParaRPr lang="en-US" sz="3200" dirty="0"/>
          </a:p>
        </p:txBody>
      </p:sp>
      <p:sp>
        <p:nvSpPr>
          <p:cNvPr id="5" name="Shape 2"/>
          <p:cNvSpPr/>
          <p:nvPr/>
        </p:nvSpPr>
        <p:spPr>
          <a:xfrm>
            <a:off x="548640" y="1463040"/>
            <a:ext cx="5669280" cy="1051560"/>
          </a:xfrm>
          <a:prstGeom prst="roundRect">
            <a:avLst>
              <a:gd name="adj" fmla="val 8696"/>
            </a:avLst>
          </a:prstGeom>
          <a:solidFill>
            <a:srgbClr val="F3F4F6"/>
          </a:solidFill>
          <a:ln w="9525">
            <a:solidFill>
              <a:srgbClr val="D5D8DD"/>
            </a:solidFill>
            <a:prstDash val="solid"/>
          </a:ln>
        </p:spPr>
      </p:sp>
      <p:sp>
        <p:nvSpPr>
          <p:cNvPr id="6" name="Text 3"/>
          <p:cNvSpPr txBox="1"/>
          <p:nvPr/>
        </p:nvSpPr>
        <p:spPr>
          <a:xfrm>
            <a:off x="777240" y="1691640"/>
            <a:ext cx="5212080" cy="640080"/>
          </a:xfrm>
          <a:prstGeom prst="rect">
            <a:avLst/>
          </a:prstGeom>
          <a:noFill/>
          <a:ln/>
        </p:spPr>
        <p:txBody>
          <a:bodyPr wrap="square" lIns="0" tIns="0" rIns="0" bIns="0" rtlCol="0" anchor="ctr"/>
          <a:lstStyle/>
          <a:p>
            <a:pPr indent="0" marL="0">
              <a:buNone/>
            </a:pPr>
            <a:r>
              <a:rPr lang="en-US" sz="1800" b="1" dirty="0">
                <a:solidFill>
                  <a:srgbClr val="1473E6"/>
                </a:solidFill>
                <a:latin typeface="Segoe UI" pitchFamily="34" charset="0"/>
                <a:ea typeface="Segoe UI" pitchFamily="34" charset="-122"/>
                <a:cs typeface="Segoe UI" pitchFamily="34" charset="-120"/>
              </a:rPr>
              <a:t>Think of it as a shock absorber for your cursor.</a:t>
            </a:r>
            <a:endParaRPr lang="en-US" sz="1800" dirty="0"/>
          </a:p>
        </p:txBody>
      </p:sp>
      <p:sp>
        <p:nvSpPr>
          <p:cNvPr id="7" name="Text 4"/>
          <p:cNvSpPr txBox="1"/>
          <p:nvPr/>
        </p:nvSpPr>
        <p:spPr>
          <a:xfrm>
            <a:off x="548640" y="2743200"/>
            <a:ext cx="5669280" cy="356616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The problem: </a:t>
            </a:r>
            <a:pPr indent="0" marL="0">
              <a:buNone/>
            </a:pPr>
            <a:r>
              <a:rPr lang="en-US" sz="1600" dirty="0">
                <a:solidFill>
                  <a:srgbClr val="1F2328"/>
                </a:solidFill>
                <a:latin typeface="Segoe UI" pitchFamily="34" charset="0"/>
                <a:ea typeface="Segoe UI" pitchFamily="34" charset="-122"/>
                <a:cs typeface="Segoe UI" pitchFamily="34" charset="-120"/>
              </a:rPr>
              <a:t>hands shake and the camera adds noise, so the cursor wobbles.</a:t>
            </a:r>
            <a:endParaRPr lang="en-US" sz="1600" dirty="0"/>
          </a:p>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The filter: </a:t>
            </a:r>
            <a:pPr indent="0" marL="0">
              <a:buNone/>
            </a:pPr>
            <a:r>
              <a:rPr lang="en-US" sz="1600" dirty="0">
                <a:solidFill>
                  <a:srgbClr val="1F2328"/>
                </a:solidFill>
                <a:latin typeface="Segoe UI" pitchFamily="34" charset="0"/>
                <a:ea typeface="Segoe UI" pitchFamily="34" charset="-122"/>
                <a:cs typeface="Segoe UI" pitchFamily="34" charset="-120"/>
              </a:rPr>
              <a:t>smooths slow moves a lot and fast moves a little, so it feels smooth but never laggy.</a:t>
            </a:r>
            <a:endParaRPr lang="en-US" sz="1600" dirty="0"/>
          </a:p>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Wrist trick: </a:t>
            </a:r>
            <a:pPr indent="0" marL="0">
              <a:buNone/>
            </a:pPr>
            <a:r>
              <a:rPr lang="en-US" sz="1600" dirty="0">
                <a:solidFill>
                  <a:srgbClr val="1F2328"/>
                </a:solidFill>
                <a:latin typeface="Segoe UI" pitchFamily="34" charset="0"/>
                <a:ea typeface="Segoe UI" pitchFamily="34" charset="-122"/>
                <a:cs typeface="Segoe UI" pitchFamily="34" charset="-120"/>
              </a:rPr>
              <a:t>the wrist shakes less than the fingertips, so the cursor follows the wrist.</a:t>
            </a:r>
            <a:endParaRPr lang="en-US" sz="1600" dirty="0"/>
          </a:p>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Same idea for photos: </a:t>
            </a:r>
            <a:pPr indent="0" marL="0">
              <a:buNone/>
            </a:pPr>
            <a:r>
              <a:rPr lang="en-US" sz="1600" dirty="0">
                <a:solidFill>
                  <a:srgbClr val="1F2328"/>
                </a:solidFill>
                <a:latin typeface="Segoe UI" pitchFamily="34" charset="0"/>
                <a:ea typeface="Segoe UI" pitchFamily="34" charset="-122"/>
                <a:cs typeface="Segoe UI" pitchFamily="34" charset="-120"/>
              </a:rPr>
              <a:t>a small blur removes camera noise before we look for the object.</a:t>
            </a:r>
            <a:endParaRPr lang="en-US" sz="1600" dirty="0"/>
          </a:p>
        </p:txBody>
      </p:sp>
      <p:graphicFrame>
        <p:nvGraphicFramePr>
          <p:cNvPr id="8" name="Chart 0" descr=""/>
          <p:cNvGraphicFramePr/>
          <p:nvPr/>
        </p:nvGraphicFramePr>
        <p:xfrm>
          <a:off x="6492240" y="1463040"/>
          <a:ext cx="5120640" cy="45720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6492240" y="6080760"/>
            <a:ext cx="5120640" cy="274320"/>
          </a:xfrm>
          <a:prstGeom prst="rect">
            <a:avLst/>
          </a:prstGeom>
          <a:noFill/>
          <a:ln/>
        </p:spPr>
        <p:txBody>
          <a:bodyPr wrap="square" lIns="0" tIns="0" rIns="0" bIns="0" rtlCol="0" anchor="t"/>
          <a:lstStyle/>
          <a:p>
            <a:pPr indent="0" marL="0">
              <a:buNone/>
            </a:pPr>
            <a:r>
              <a:rPr lang="en-US" sz="1100" dirty="0">
                <a:solidFill>
                  <a:srgbClr val="5F6672"/>
                </a:solidFill>
                <a:latin typeface="Segoe UI" pitchFamily="34" charset="0"/>
                <a:ea typeface="Segoe UI" pitchFamily="34" charset="-122"/>
                <a:cs typeface="Segoe UI" pitchFamily="34" charset="-120"/>
              </a:rPr>
              <a:t>Test with a simulated shaky hand.</a:t>
            </a:r>
            <a:endParaRPr lang="en-US" sz="11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MACHINE LEARNING</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The AI that finds your hand</a:t>
            </a:r>
            <a:endParaRPr lang="en-US" sz="3200" dirty="0"/>
          </a:p>
        </p:txBody>
      </p:sp>
      <p:sp>
        <p:nvSpPr>
          <p:cNvPr id="5" name="Shape 2"/>
          <p:cNvSpPr/>
          <p:nvPr/>
        </p:nvSpPr>
        <p:spPr>
          <a:xfrm>
            <a:off x="548640" y="1554480"/>
            <a:ext cx="3383280" cy="1645920"/>
          </a:xfrm>
          <a:prstGeom prst="roundRect">
            <a:avLst>
              <a:gd name="adj" fmla="val 5556"/>
            </a:avLst>
          </a:prstGeom>
          <a:solidFill>
            <a:srgbClr val="FFFFFF"/>
          </a:solidFill>
          <a:ln w="9525">
            <a:solidFill>
              <a:srgbClr val="7A4FD6"/>
            </a:solidFill>
            <a:prstDash val="solid"/>
          </a:ln>
        </p:spPr>
      </p:sp>
      <p:sp>
        <p:nvSpPr>
          <p:cNvPr id="6" name="Text 3"/>
          <p:cNvSpPr txBox="1"/>
          <p:nvPr/>
        </p:nvSpPr>
        <p:spPr>
          <a:xfrm>
            <a:off x="731520" y="1783080"/>
            <a:ext cx="3017520" cy="457200"/>
          </a:xfrm>
          <a:prstGeom prst="rect">
            <a:avLst/>
          </a:prstGeom>
          <a:noFill/>
          <a:ln/>
        </p:spPr>
        <p:txBody>
          <a:bodyPr wrap="square" lIns="0" tIns="0" rIns="0" bIns="0" rtlCol="0" anchor="t"/>
          <a:lstStyle/>
          <a:p>
            <a:pPr indent="0" marL="0">
              <a:buNone/>
            </a:pPr>
            <a:r>
              <a:rPr lang="en-US" sz="2000" b="1" dirty="0">
                <a:solidFill>
                  <a:srgbClr val="7A4FD6"/>
                </a:solidFill>
                <a:latin typeface="Segoe UI" pitchFamily="34" charset="0"/>
                <a:ea typeface="Segoe UI" pitchFamily="34" charset="-122"/>
                <a:cs typeface="Segoe UI" pitchFamily="34" charset="-120"/>
              </a:rPr>
              <a:t>1  Find the palm</a:t>
            </a:r>
            <a:endParaRPr lang="en-US" sz="2000" dirty="0"/>
          </a:p>
        </p:txBody>
      </p:sp>
      <p:sp>
        <p:nvSpPr>
          <p:cNvPr id="7" name="Text 4"/>
          <p:cNvSpPr txBox="1"/>
          <p:nvPr/>
        </p:nvSpPr>
        <p:spPr>
          <a:xfrm>
            <a:off x="731520" y="2377440"/>
            <a:ext cx="3017520" cy="640080"/>
          </a:xfrm>
          <a:prstGeom prst="rect">
            <a:avLst/>
          </a:prstGeom>
          <a:noFill/>
          <a:ln/>
        </p:spPr>
        <p:txBody>
          <a:bodyPr wrap="square" lIns="0" tIns="0" rIns="0" bIns="0" rtlCol="0" anchor="t"/>
          <a:lstStyle/>
          <a:p>
            <a:pPr indent="0" marL="0">
              <a:buNone/>
            </a:pPr>
            <a:r>
              <a:rPr lang="en-US" sz="1500" dirty="0">
                <a:solidFill>
                  <a:srgbClr val="5F6672"/>
                </a:solidFill>
                <a:latin typeface="Segoe UI" pitchFamily="34" charset="0"/>
                <a:ea typeface="Segoe UI" pitchFamily="34" charset="-122"/>
                <a:cs typeface="Segoe UI" pitchFamily="34" charset="-120"/>
              </a:rPr>
              <a:t>a quick scan of the picture</a:t>
            </a:r>
            <a:endParaRPr lang="en-US" sz="1500" dirty="0"/>
          </a:p>
        </p:txBody>
      </p:sp>
      <p:sp>
        <p:nvSpPr>
          <p:cNvPr id="8" name="Shape 5"/>
          <p:cNvSpPr/>
          <p:nvPr/>
        </p:nvSpPr>
        <p:spPr>
          <a:xfrm>
            <a:off x="3950208" y="2377440"/>
            <a:ext cx="420624" cy="0"/>
          </a:xfrm>
          <a:prstGeom prst="line">
            <a:avLst/>
          </a:prstGeom>
          <a:noFill/>
          <a:ln w="38100">
            <a:solidFill>
              <a:srgbClr val="1473E6"/>
            </a:solidFill>
            <a:prstDash val="solid"/>
            <a:tailEnd type="triangle"/>
          </a:ln>
        </p:spPr>
      </p:sp>
      <p:sp>
        <p:nvSpPr>
          <p:cNvPr id="9" name="Shape 6"/>
          <p:cNvSpPr/>
          <p:nvPr/>
        </p:nvSpPr>
        <p:spPr>
          <a:xfrm>
            <a:off x="4389120" y="1554480"/>
            <a:ext cx="3383280" cy="1645920"/>
          </a:xfrm>
          <a:prstGeom prst="roundRect">
            <a:avLst>
              <a:gd name="adj" fmla="val 5556"/>
            </a:avLst>
          </a:prstGeom>
          <a:solidFill>
            <a:srgbClr val="FFFFFF"/>
          </a:solidFill>
          <a:ln w="9525">
            <a:solidFill>
              <a:srgbClr val="7A4FD6"/>
            </a:solidFill>
            <a:prstDash val="solid"/>
          </a:ln>
        </p:spPr>
      </p:sp>
      <p:sp>
        <p:nvSpPr>
          <p:cNvPr id="10" name="Text 7"/>
          <p:cNvSpPr txBox="1"/>
          <p:nvPr/>
        </p:nvSpPr>
        <p:spPr>
          <a:xfrm>
            <a:off x="4572000" y="1783080"/>
            <a:ext cx="3017520" cy="457200"/>
          </a:xfrm>
          <a:prstGeom prst="rect">
            <a:avLst/>
          </a:prstGeom>
          <a:noFill/>
          <a:ln/>
        </p:spPr>
        <p:txBody>
          <a:bodyPr wrap="square" lIns="0" tIns="0" rIns="0" bIns="0" rtlCol="0" anchor="t"/>
          <a:lstStyle/>
          <a:p>
            <a:pPr indent="0" marL="0">
              <a:buNone/>
            </a:pPr>
            <a:r>
              <a:rPr lang="en-US" sz="2000" b="1" dirty="0">
                <a:solidFill>
                  <a:srgbClr val="7A4FD6"/>
                </a:solidFill>
                <a:latin typeface="Segoe UI" pitchFamily="34" charset="0"/>
                <a:ea typeface="Segoe UI" pitchFamily="34" charset="-122"/>
                <a:cs typeface="Segoe UI" pitchFamily="34" charset="-120"/>
              </a:rPr>
              <a:t>2  Find 21 points</a:t>
            </a:r>
            <a:endParaRPr lang="en-US" sz="2000" dirty="0"/>
          </a:p>
        </p:txBody>
      </p:sp>
      <p:sp>
        <p:nvSpPr>
          <p:cNvPr id="11" name="Text 8"/>
          <p:cNvSpPr txBox="1"/>
          <p:nvPr/>
        </p:nvSpPr>
        <p:spPr>
          <a:xfrm>
            <a:off x="4572000" y="2377440"/>
            <a:ext cx="3017520" cy="640080"/>
          </a:xfrm>
          <a:prstGeom prst="rect">
            <a:avLst/>
          </a:prstGeom>
          <a:noFill/>
          <a:ln/>
        </p:spPr>
        <p:txBody>
          <a:bodyPr wrap="square" lIns="0" tIns="0" rIns="0" bIns="0" rtlCol="0" anchor="t"/>
          <a:lstStyle/>
          <a:p>
            <a:pPr indent="0" marL="0">
              <a:buNone/>
            </a:pPr>
            <a:r>
              <a:rPr lang="en-US" sz="1500" dirty="0">
                <a:solidFill>
                  <a:srgbClr val="5F6672"/>
                </a:solidFill>
                <a:latin typeface="Segoe UI" pitchFamily="34" charset="0"/>
                <a:ea typeface="Segoe UI" pitchFamily="34" charset="-122"/>
                <a:cs typeface="Segoe UI" pitchFamily="34" charset="-120"/>
              </a:rPr>
              <a:t>fingertips, knuckles, wrist</a:t>
            </a:r>
            <a:endParaRPr lang="en-US" sz="1500" dirty="0"/>
          </a:p>
        </p:txBody>
      </p:sp>
      <p:sp>
        <p:nvSpPr>
          <p:cNvPr id="12" name="Shape 9"/>
          <p:cNvSpPr/>
          <p:nvPr/>
        </p:nvSpPr>
        <p:spPr>
          <a:xfrm>
            <a:off x="7790688" y="2377440"/>
            <a:ext cx="420624" cy="0"/>
          </a:xfrm>
          <a:prstGeom prst="line">
            <a:avLst/>
          </a:prstGeom>
          <a:noFill/>
          <a:ln w="38100">
            <a:solidFill>
              <a:srgbClr val="1473E6"/>
            </a:solidFill>
            <a:prstDash val="solid"/>
            <a:tailEnd type="triangle"/>
          </a:ln>
        </p:spPr>
      </p:sp>
      <p:sp>
        <p:nvSpPr>
          <p:cNvPr id="13" name="Shape 10"/>
          <p:cNvSpPr/>
          <p:nvPr/>
        </p:nvSpPr>
        <p:spPr>
          <a:xfrm>
            <a:off x="8229600" y="1554480"/>
            <a:ext cx="3383280" cy="1645920"/>
          </a:xfrm>
          <a:prstGeom prst="roundRect">
            <a:avLst>
              <a:gd name="adj" fmla="val 5556"/>
            </a:avLst>
          </a:prstGeom>
          <a:solidFill>
            <a:srgbClr val="FFFFFF"/>
          </a:solidFill>
          <a:ln w="9525">
            <a:solidFill>
              <a:srgbClr val="1473E6"/>
            </a:solidFill>
            <a:prstDash val="solid"/>
          </a:ln>
        </p:spPr>
      </p:sp>
      <p:sp>
        <p:nvSpPr>
          <p:cNvPr id="14" name="Text 11"/>
          <p:cNvSpPr txBox="1"/>
          <p:nvPr/>
        </p:nvSpPr>
        <p:spPr>
          <a:xfrm>
            <a:off x="8412480" y="1783080"/>
            <a:ext cx="3017520" cy="457200"/>
          </a:xfrm>
          <a:prstGeom prst="rect">
            <a:avLst/>
          </a:prstGeom>
          <a:noFill/>
          <a:ln/>
        </p:spPr>
        <p:txBody>
          <a:bodyPr wrap="square" lIns="0" tIns="0" rIns="0" bIns="0" rtlCol="0" anchor="t"/>
          <a:lstStyle/>
          <a:p>
            <a:pPr indent="0" marL="0">
              <a:buNone/>
            </a:pPr>
            <a:r>
              <a:rPr lang="en-US" sz="2000" b="1" dirty="0">
                <a:solidFill>
                  <a:srgbClr val="1473E6"/>
                </a:solidFill>
                <a:latin typeface="Segoe UI" pitchFamily="34" charset="0"/>
                <a:ea typeface="Segoe UI" pitchFamily="34" charset="-122"/>
                <a:cs typeface="Segoe UI" pitchFamily="34" charset="-120"/>
              </a:rPr>
              <a:t>3  Give a pointer</a:t>
            </a:r>
            <a:endParaRPr lang="en-US" sz="2000" dirty="0"/>
          </a:p>
        </p:txBody>
      </p:sp>
      <p:sp>
        <p:nvSpPr>
          <p:cNvPr id="15" name="Text 12"/>
          <p:cNvSpPr txBox="1"/>
          <p:nvPr/>
        </p:nvSpPr>
        <p:spPr>
          <a:xfrm>
            <a:off x="8412480" y="2377440"/>
            <a:ext cx="3017520" cy="640080"/>
          </a:xfrm>
          <a:prstGeom prst="rect">
            <a:avLst/>
          </a:prstGeom>
          <a:noFill/>
          <a:ln/>
        </p:spPr>
        <p:txBody>
          <a:bodyPr wrap="square" lIns="0" tIns="0" rIns="0" bIns="0" rtlCol="0" anchor="t"/>
          <a:lstStyle/>
          <a:p>
            <a:pPr indent="0" marL="0">
              <a:buNone/>
            </a:pPr>
            <a:r>
              <a:rPr lang="en-US" sz="1500" dirty="0">
                <a:solidFill>
                  <a:srgbClr val="5F6672"/>
                </a:solidFill>
                <a:latin typeface="Segoe UI" pitchFamily="34" charset="0"/>
                <a:ea typeface="Segoe UI" pitchFamily="34" charset="-122"/>
                <a:cs typeface="Segoe UI" pitchFamily="34" charset="-120"/>
              </a:rPr>
              <a:t>where the hand is and what it is doing</a:t>
            </a:r>
            <a:endParaRPr lang="en-US" sz="1500" dirty="0"/>
          </a:p>
        </p:txBody>
      </p:sp>
      <p:sp>
        <p:nvSpPr>
          <p:cNvPr id="16" name="Text 13"/>
          <p:cNvSpPr txBox="1"/>
          <p:nvPr/>
        </p:nvSpPr>
        <p:spPr>
          <a:xfrm>
            <a:off x="548640" y="3566160"/>
            <a:ext cx="11064240" cy="274320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Already trained: </a:t>
            </a:r>
            <a:pPr indent="0" marL="0">
              <a:buNone/>
            </a:pPr>
            <a:r>
              <a:rPr lang="en-US" sz="1600" dirty="0">
                <a:solidFill>
                  <a:srgbClr val="1F2328"/>
                </a:solidFill>
                <a:latin typeface="Segoe UI" pitchFamily="34" charset="0"/>
                <a:ea typeface="Segoe UI" pitchFamily="34" charset="-122"/>
                <a:cs typeface="Segoe UI" pitchFamily="34" charset="-120"/>
              </a:rPr>
              <a:t>Google trained these networks. We only use them (no training from us).</a:t>
            </a:r>
            <a:endParaRPr lang="en-US" sz="1600" dirty="0"/>
          </a:p>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Two helpers: </a:t>
            </a:r>
            <a:pPr indent="0" marL="0">
              <a:buNone/>
            </a:pPr>
            <a:r>
              <a:rPr lang="en-US" sz="1600" dirty="0">
                <a:solidFill>
                  <a:srgbClr val="1F2328"/>
                </a:solidFill>
                <a:latin typeface="Segoe UI" pitchFamily="34" charset="0"/>
                <a:ea typeface="Segoe UI" pitchFamily="34" charset="-122"/>
                <a:cs typeface="Segoe UI" pitchFamily="34" charset="-120"/>
              </a:rPr>
              <a:t>a hand model, and an arm model that keeps a hand found when the fingers are hard to see.</a:t>
            </a:r>
            <a:endParaRPr lang="en-US" sz="1600" dirty="0"/>
          </a:p>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Runs in your browser, </a:t>
            </a:r>
            <a:pPr indent="0" marL="0">
              <a:buNone/>
            </a:pPr>
            <a:r>
              <a:rPr lang="en-US" sz="1600" dirty="0">
                <a:solidFill>
                  <a:srgbClr val="1F2328"/>
                </a:solidFill>
                <a:latin typeface="Segoe UI" pitchFamily="34" charset="0"/>
                <a:ea typeface="Segoe UI" pitchFamily="34" charset="-122"/>
                <a:cs typeface="Segoe UI" pitchFamily="34" charset="-120"/>
              </a:rPr>
              <a:t>on your own computer, with no internet needed.</a:t>
            </a:r>
            <a:endParaRPr lang="en-US" sz="1600" dirty="0"/>
          </a:p>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3D points too: </a:t>
            </a:r>
            <a:pPr indent="0" marL="0">
              <a:buNone/>
            </a:pPr>
            <a:r>
              <a:rPr lang="en-US" sz="1600" dirty="0">
                <a:solidFill>
                  <a:srgbClr val="1F2328"/>
                </a:solidFill>
                <a:latin typeface="Segoe UI" pitchFamily="34" charset="0"/>
                <a:ea typeface="Segoe UI" pitchFamily="34" charset="-122"/>
                <a:cs typeface="Segoe UI" pitchFamily="34" charset="-120"/>
              </a:rPr>
              <a:t>the hand model also gives 3D positions, so a pinch looks the same when you turn your hand.</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CLASSIFICATION</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Turning finger positions into gestures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583680" cy="914400"/>
        </p:xfrm>
        <a:graphic>
          <a:graphicData uri="http://schemas.openxmlformats.org/drawingml/2006/table">
            <a:tbl>
              <a:tblPr/>
              <a:tblGrid>
                <a:gridCol w="1280160"/>
                <a:gridCol w="3017520"/>
                <a:gridCol w="2286000"/>
              </a:tblGrid>
              <a:tr h="566928">
                <a:tc>
                  <a:txBody>
                    <a:bodyPr/>
                    <a:lstStyle/>
                    <a:p>
                      <a:pPr indent="0" marL="0">
                        <a:buNone/>
                      </a:pPr>
                      <a:r>
                        <a:rPr lang="en-US" sz="1500" b="1" dirty="0">
                          <a:solidFill>
                            <a:srgbClr val="5F6672"/>
                          </a:solidFill>
                          <a:latin typeface="Segoe UI" pitchFamily="34" charset="0"/>
                          <a:ea typeface="Segoe UI" pitchFamily="34" charset="-122"/>
                          <a:cs typeface="Segoe UI" pitchFamily="34" charset="-120"/>
                        </a:rPr>
                        <a:t>Gesture</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c>
                  <a:txBody>
                    <a:bodyPr/>
                    <a:lstStyle/>
                    <a:p>
                      <a:pPr indent="0" marL="0">
                        <a:buNone/>
                      </a:pPr>
                      <a:r>
                        <a:rPr lang="en-US" sz="1500" b="1" dirty="0">
                          <a:solidFill>
                            <a:srgbClr val="5F6672"/>
                          </a:solidFill>
                          <a:latin typeface="Segoe UI" pitchFamily="34" charset="0"/>
                          <a:ea typeface="Segoe UI" pitchFamily="34" charset="-122"/>
                          <a:cs typeface="Segoe UI" pitchFamily="34" charset="-120"/>
                        </a:rPr>
                        <a:t>How to make it</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c>
                  <a:txBody>
                    <a:bodyPr/>
                    <a:lstStyle/>
                    <a:p>
                      <a:pPr indent="0" marL="0">
                        <a:buNone/>
                      </a:pPr>
                      <a:r>
                        <a:rPr lang="en-US" sz="1500" b="1" dirty="0">
                          <a:solidFill>
                            <a:srgbClr val="5F6672"/>
                          </a:solidFill>
                          <a:latin typeface="Segoe UI" pitchFamily="34" charset="0"/>
                          <a:ea typeface="Segoe UI" pitchFamily="34" charset="-122"/>
                          <a:cs typeface="Segoe UI" pitchFamily="34" charset="-120"/>
                        </a:rPr>
                        <a:t>What it does</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r>
              <a:tr h="566928">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Pinch</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touch thumb to index finger</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draw, place, press</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Grab</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touch thumb to middle finger</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move an object</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Fist</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close all fingers</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turn the view</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Peace</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two fingers up</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Segoe UI" pitchFamily="34" charset="0"/>
                          <a:ea typeface="Segoe UI" pitchFamily="34" charset="-122"/>
                          <a:cs typeface="Segoe UI" pitchFamily="34" charset="-120"/>
                        </a:rPr>
                        <a:t>slide the view</a:t>
                      </a:r>
                      <a:endParaRPr lang="en-US" sz="15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4617720"/>
            <a:ext cx="6583680" cy="173736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rgbClr val="1473E6"/>
                </a:solidFill>
                <a:latin typeface="Segoe UI" pitchFamily="34" charset="0"/>
                <a:ea typeface="Segoe UI" pitchFamily="34" charset="-122"/>
                <a:cs typeface="Segoe UI" pitchFamily="34" charset="-120"/>
              </a:rPr>
              <a:t>Works near or far: </a:t>
            </a:r>
            <a:pPr indent="0" marL="0">
              <a:buNone/>
            </a:pPr>
            <a:r>
              <a:rPr lang="en-US" sz="1500" dirty="0">
                <a:solidFill>
                  <a:srgbClr val="1F2328"/>
                </a:solidFill>
                <a:latin typeface="Segoe UI" pitchFamily="34" charset="0"/>
                <a:ea typeface="Segoe UI" pitchFamily="34" charset="-122"/>
                <a:cs typeface="Segoe UI" pitchFamily="34" charset="-120"/>
              </a:rPr>
              <a:t>distances are compared with the size of your palm.</a:t>
            </a:r>
            <a:endParaRPr lang="en-US" sz="1500" dirty="0"/>
          </a:p>
          <a:p>
            <a:pPr marL="203200" indent="-203200">
              <a:spcAft>
                <a:spcPts val="600"/>
              </a:spcAft>
              <a:buSzPct val="100000"/>
              <a:buChar char="•"/>
            </a:pPr>
            <a:r>
              <a:rPr lang="en-US" sz="1500" b="1" dirty="0">
                <a:solidFill>
                  <a:srgbClr val="1473E6"/>
                </a:solidFill>
                <a:latin typeface="Segoe UI" pitchFamily="34" charset="0"/>
                <a:ea typeface="Segoe UI" pitchFamily="34" charset="-122"/>
                <a:cs typeface="Segoe UI" pitchFamily="34" charset="-120"/>
              </a:rPr>
              <a:t>No flicker: </a:t>
            </a:r>
            <a:pPr indent="0" marL="0">
              <a:buNone/>
            </a:pPr>
            <a:r>
              <a:rPr lang="en-US" sz="1500" dirty="0">
                <a:solidFill>
                  <a:srgbClr val="1F2328"/>
                </a:solidFill>
                <a:latin typeface="Segoe UI" pitchFamily="34" charset="0"/>
                <a:ea typeface="Segoe UI" pitchFamily="34" charset="-122"/>
                <a:cs typeface="Segoe UI" pitchFamily="34" charset="-120"/>
              </a:rPr>
              <a:t>a gesture must hold for a moment, and it is easier to keep than to start.</a:t>
            </a:r>
            <a:endParaRPr lang="en-US" sz="1500" dirty="0"/>
          </a:p>
          <a:p>
            <a:pPr marL="203200" indent="-203200">
              <a:spcAft>
                <a:spcPts val="600"/>
              </a:spcAft>
              <a:buSzPct val="100000"/>
              <a:buChar char="•"/>
            </a:pPr>
            <a:r>
              <a:rPr lang="en-US" sz="1500" b="1" dirty="0">
                <a:solidFill>
                  <a:srgbClr val="1473E6"/>
                </a:solidFill>
                <a:latin typeface="Segoe UI" pitchFamily="34" charset="0"/>
                <a:ea typeface="Segoe UI" pitchFamily="34" charset="-122"/>
                <a:cs typeface="Segoe UI" pitchFamily="34" charset="-120"/>
              </a:rPr>
              <a:t>Fits your hand: </a:t>
            </a:r>
            <a:pPr indent="0" marL="0">
              <a:buNone/>
            </a:pPr>
            <a:r>
              <a:rPr lang="en-US" sz="1500" dirty="0">
                <a:solidFill>
                  <a:srgbClr val="1F2328"/>
                </a:solidFill>
                <a:latin typeface="Segoe UI" pitchFamily="34" charset="0"/>
                <a:ea typeface="Segoe UI" pitchFamily="34" charset="-122"/>
                <a:cs typeface="Segoe UI" pitchFamily="34" charset="-120"/>
              </a:rPr>
              <a:t>practice mode measures your hand and sets your own limits.</a:t>
            </a:r>
            <a:endParaRPr lang="en-US" sz="1500" dirty="0"/>
          </a:p>
        </p:txBody>
      </p:sp>
      <p:sp>
        <p:nvSpPr>
          <p:cNvPr id="7" name="Shape 3"/>
          <p:cNvSpPr/>
          <p:nvPr/>
        </p:nvSpPr>
        <p:spPr>
          <a:xfrm>
            <a:off x="7415784" y="1517904"/>
            <a:ext cx="4233672" cy="2413445"/>
          </a:xfrm>
          <a:prstGeom prst="roundRect">
            <a:avLst>
              <a:gd name="adj" fmla="val 2273"/>
            </a:avLst>
          </a:prstGeom>
          <a:solidFill>
            <a:srgbClr val="FFFFFF"/>
          </a:solidFill>
          <a:ln w="9525">
            <a:solidFill>
              <a:srgbClr val="D5D8DD"/>
            </a:solidFill>
            <a:prstDash val="solid"/>
          </a:ln>
        </p:spPr>
      </p:sp>
      <p:pic>
        <p:nvPicPr>
          <p:cNvPr id="8" name="Image 0" descr="Two tracked hands, one pinching and one making a fist">    </p:cNvPr>
          <p:cNvPicPr>
            <a:picLocks noChangeAspect="1"/>
          </p:cNvPicPr>
          <p:nvPr/>
        </p:nvPicPr>
        <p:blipFill>
          <a:blip r:embed="rId1"/>
          <a:stretch>
            <a:fillRect/>
          </a:stretch>
        </p:blipFill>
        <p:spPr>
          <a:xfrm>
            <a:off x="7452360" y="1554480"/>
            <a:ext cx="4160520" cy="2340293"/>
          </a:xfrm>
          <a:prstGeom prst="rect">
            <a:avLst/>
          </a:prstGeom>
        </p:spPr>
      </p:pic>
      <p:sp>
        <p:nvSpPr>
          <p:cNvPr id="9" name="Text 4"/>
          <p:cNvSpPr txBox="1"/>
          <p:nvPr/>
        </p:nvSpPr>
        <p:spPr>
          <a:xfrm>
            <a:off x="7452360" y="4023360"/>
            <a:ext cx="4160520" cy="731520"/>
          </a:xfrm>
          <a:prstGeom prst="rect">
            <a:avLst/>
          </a:prstGeom>
          <a:noFill/>
          <a:ln/>
        </p:spPr>
        <p:txBody>
          <a:bodyPr wrap="square" lIns="0" tIns="0" rIns="0" bIns="0" rtlCol="0" anchor="t"/>
          <a:lstStyle/>
          <a:p>
            <a:pPr algn="ctr" indent="0" marL="0">
              <a:buNone/>
            </a:pPr>
            <a:r>
              <a:rPr lang="en-US" sz="1200" dirty="0">
                <a:solidFill>
                  <a:srgbClr val="5F6672"/>
                </a:solidFill>
                <a:latin typeface="Segoe UI" pitchFamily="34" charset="0"/>
                <a:ea typeface="Segoe UI" pitchFamily="34" charset="-122"/>
                <a:cs typeface="Segoe UI" pitchFamily="34" charset="-120"/>
              </a:rPr>
              <a:t>Blue hand: pinching to draw. Orange hand: fist to turn the view. Simulated hands, real tracker.</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MAKING THE AI DEPENDABLE</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Fixing the mistakes the detector makes</a:t>
            </a:r>
            <a:endParaRPr lang="en-US" sz="3200" dirty="0"/>
          </a:p>
        </p:txBody>
      </p:sp>
      <p:graphicFrame>
        <p:nvGraphicFramePr>
          <p:cNvPr id="5" name="Chart 0" descr=""/>
          <p:cNvGraphicFramePr/>
          <p:nvPr/>
        </p:nvGraphicFramePr>
        <p:xfrm>
          <a:off x="548640" y="1463040"/>
          <a:ext cx="548640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55080" y="1554480"/>
          <a:ext cx="5285232" cy="914400"/>
        </p:xfrm>
        <a:graphic>
          <a:graphicData uri="http://schemas.openxmlformats.org/drawingml/2006/table">
            <a:tbl>
              <a:tblPr/>
              <a:tblGrid>
                <a:gridCol w="2651760"/>
                <a:gridCol w="2633472"/>
              </a:tblGrid>
              <a:tr h="685800">
                <a:tc>
                  <a:txBody>
                    <a:bodyPr/>
                    <a:lstStyle/>
                    <a:p>
                      <a:pPr indent="0" marL="0">
                        <a:buNone/>
                      </a:pPr>
                      <a:r>
                        <a:rPr lang="en-US" sz="1400" b="1" dirty="0">
                          <a:solidFill>
                            <a:srgbClr val="5F6672"/>
                          </a:solidFill>
                          <a:latin typeface="Segoe UI" pitchFamily="34" charset="0"/>
                          <a:ea typeface="Segoe UI" pitchFamily="34" charset="-122"/>
                          <a:cs typeface="Segoe UI" pitchFamily="34" charset="-120"/>
                        </a:rPr>
                        <a:t>What goes wrong</a:t>
                      </a:r>
                      <a:endParaRPr lang="en-US" sz="14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c>
                  <a:txBody>
                    <a:bodyPr/>
                    <a:lstStyle/>
                    <a:p>
                      <a:pPr indent="0" marL="0">
                        <a:buNone/>
                      </a:pPr>
                      <a:r>
                        <a:rPr lang="en-US" sz="1400" b="1" dirty="0">
                          <a:solidFill>
                            <a:srgbClr val="5F6672"/>
                          </a:solidFill>
                          <a:latin typeface="Segoe UI" pitchFamily="34" charset="0"/>
                          <a:ea typeface="Segoe UI" pitchFamily="34" charset="-122"/>
                          <a:cs typeface="Segoe UI" pitchFamily="34" charset="-120"/>
                        </a:rPr>
                        <a:t>What we do</a:t>
                      </a:r>
                      <a:endParaRPr lang="en-US" sz="14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r>
              <a:tr h="685800">
                <a:tc>
                  <a:txBody>
                    <a:bodyPr/>
                    <a:lstStyle/>
                    <a:p>
                      <a:pPr indent="0" marL="0">
                        <a:buNone/>
                      </a:pPr>
                      <a:r>
                        <a:rPr lang="en-US" sz="1400" dirty="0">
                          <a:solidFill>
                            <a:srgbClr val="1F2328"/>
                          </a:solidFill>
                          <a:latin typeface="Segoe UI" pitchFamily="34" charset="0"/>
                          <a:ea typeface="Segoe UI" pitchFamily="34" charset="-122"/>
                          <a:cs typeface="Segoe UI" pitchFamily="34" charset="-120"/>
                        </a:rPr>
                        <a:t>Left and right get mixed up</a:t>
                      </a:r>
                      <a:endParaRPr lang="en-US" sz="14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Segoe UI" pitchFamily="34" charset="0"/>
                          <a:ea typeface="Segoe UI" pitchFamily="34" charset="-122"/>
                          <a:cs typeface="Segoe UI" pitchFamily="34" charset="-120"/>
                        </a:rPr>
                        <a:t>follow the hand by where it is</a:t>
                      </a:r>
                      <a:endParaRPr lang="en-US" sz="14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1F2328"/>
                          </a:solidFill>
                          <a:latin typeface="Segoe UI" pitchFamily="34" charset="0"/>
                          <a:ea typeface="Segoe UI" pitchFamily="34" charset="-122"/>
                          <a:cs typeface="Segoe UI" pitchFamily="34" charset="-120"/>
                        </a:rPr>
                        <a:t>One hand is seen twice</a:t>
                      </a:r>
                      <a:endParaRPr lang="en-US" sz="14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Segoe UI" pitchFamily="34" charset="0"/>
                          <a:ea typeface="Segoe UI" pitchFamily="34" charset="-122"/>
                          <a:cs typeface="Segoe UI" pitchFamily="34" charset="-120"/>
                        </a:rPr>
                        <a:t>merge the copies</a:t>
                      </a:r>
                      <a:endParaRPr lang="en-US" sz="14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1F2328"/>
                          </a:solidFill>
                          <a:latin typeface="Segoe UI" pitchFamily="34" charset="0"/>
                          <a:ea typeface="Segoe UI" pitchFamily="34" charset="-122"/>
                          <a:cs typeface="Segoe UI" pitchFamily="34" charset="-120"/>
                        </a:rPr>
                        <a:t>A hand appears for one frame</a:t>
                      </a:r>
                      <a:endParaRPr lang="en-US" sz="14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Segoe UI" pitchFamily="34" charset="0"/>
                          <a:ea typeface="Segoe UI" pitchFamily="34" charset="-122"/>
                          <a:cs typeface="Segoe UI" pitchFamily="34" charset="-120"/>
                        </a:rPr>
                        <a:t>wait a few frames to be sure</a:t>
                      </a:r>
                      <a:endParaRPr lang="en-US" sz="14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1F2328"/>
                          </a:solidFill>
                          <a:latin typeface="Segoe UI" pitchFamily="34" charset="0"/>
                          <a:ea typeface="Segoe UI" pitchFamily="34" charset="-122"/>
                          <a:cs typeface="Segoe UI" pitchFamily="34" charset="-120"/>
                        </a:rPr>
                        <a:t>The hand is lost for a moment</a:t>
                      </a:r>
                      <a:endParaRPr lang="en-US" sz="14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Segoe UI" pitchFamily="34" charset="0"/>
                          <a:ea typeface="Segoe UI" pitchFamily="34" charset="-122"/>
                          <a:cs typeface="Segoe UI" pitchFamily="34" charset="-120"/>
                        </a:rPr>
                        <a:t>keep the last pose briefly</a:t>
                      </a:r>
                      <a:endParaRPr lang="en-US" sz="14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6355080" y="5029200"/>
            <a:ext cx="5285232" cy="457200"/>
          </a:xfrm>
          <a:prstGeom prst="rect">
            <a:avLst/>
          </a:prstGeom>
          <a:noFill/>
          <a:ln/>
        </p:spPr>
        <p:txBody>
          <a:bodyPr wrap="square" lIns="0" tIns="0" rIns="0" bIns="0" rtlCol="0" anchor="t"/>
          <a:lstStyle/>
          <a:p>
            <a:pPr indent="0" marL="0">
              <a:buNone/>
            </a:pPr>
            <a:r>
              <a:rPr lang="en-US" sz="1300" dirty="0">
                <a:solidFill>
                  <a:srgbClr val="5F6672"/>
                </a:solidFill>
                <a:latin typeface="Segoe UI" pitchFamily="34" charset="0"/>
                <a:ea typeface="Segoe UI" pitchFamily="34" charset="-122"/>
                <a:cs typeface="Segoe UI" pitchFamily="34" charset="-120"/>
              </a:rPr>
              <a:t>Real-camera testing is still to do.</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SEGMENTATION</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Finding the object in a picture</a:t>
            </a:r>
            <a:endParaRPr lang="en-US" sz="3200" dirty="0"/>
          </a:p>
        </p:txBody>
      </p:sp>
      <p:sp>
        <p:nvSpPr>
          <p:cNvPr id="5" name="Shape 2"/>
          <p:cNvSpPr/>
          <p:nvPr/>
        </p:nvSpPr>
        <p:spPr>
          <a:xfrm>
            <a:off x="512064" y="1472184"/>
            <a:ext cx="2130552" cy="1432667"/>
          </a:xfrm>
          <a:prstGeom prst="roundRect">
            <a:avLst>
              <a:gd name="adj" fmla="val 3830"/>
            </a:avLst>
          </a:prstGeom>
          <a:solidFill>
            <a:srgbClr val="FFFFFF"/>
          </a:solidFill>
          <a:ln w="9525">
            <a:solidFill>
              <a:srgbClr val="D5D8DD"/>
            </a:solidFill>
            <a:prstDash val="solid"/>
          </a:ln>
        </p:spPr>
      </p:sp>
      <p:pic>
        <p:nvPicPr>
          <p:cNvPr id="6" name="Image 0" descr="1  The picture">    </p:cNvPr>
          <p:cNvPicPr>
            <a:picLocks noChangeAspect="1"/>
          </p:cNvPicPr>
          <p:nvPr/>
        </p:nvPicPr>
        <p:blipFill>
          <a:blip r:embed="rId1"/>
          <a:stretch>
            <a:fillRect/>
          </a:stretch>
        </p:blipFill>
        <p:spPr>
          <a:xfrm>
            <a:off x="548640" y="1508760"/>
            <a:ext cx="2057400" cy="1359515"/>
          </a:xfrm>
          <a:prstGeom prst="rect">
            <a:avLst/>
          </a:prstGeom>
        </p:spPr>
      </p:pic>
      <p:sp>
        <p:nvSpPr>
          <p:cNvPr id="7" name="Text 3"/>
          <p:cNvSpPr txBox="1"/>
          <p:nvPr/>
        </p:nvSpPr>
        <p:spPr>
          <a:xfrm>
            <a:off x="548640" y="3017520"/>
            <a:ext cx="2103120" cy="274320"/>
          </a:xfrm>
          <a:prstGeom prst="rect">
            <a:avLst/>
          </a:prstGeom>
          <a:noFill/>
          <a:ln/>
        </p:spPr>
        <p:txBody>
          <a:bodyPr wrap="square" lIns="0" tIns="0" rIns="0" bIns="0" rtlCol="0" anchor="t"/>
          <a:lstStyle/>
          <a:p>
            <a:pPr indent="0" marL="0">
              <a:buNone/>
            </a:pPr>
            <a:r>
              <a:rPr lang="en-US" sz="1400" b="1" dirty="0">
                <a:solidFill>
                  <a:srgbClr val="1473E6"/>
                </a:solidFill>
                <a:latin typeface="Segoe UI" pitchFamily="34" charset="0"/>
                <a:ea typeface="Segoe UI" pitchFamily="34" charset="-122"/>
                <a:cs typeface="Segoe UI" pitchFamily="34" charset="-120"/>
              </a:rPr>
              <a:t>1  The picture</a:t>
            </a:r>
            <a:endParaRPr lang="en-US" sz="1400" dirty="0"/>
          </a:p>
        </p:txBody>
      </p:sp>
      <p:sp>
        <p:nvSpPr>
          <p:cNvPr id="8" name="Shape 4"/>
          <p:cNvSpPr/>
          <p:nvPr/>
        </p:nvSpPr>
        <p:spPr>
          <a:xfrm>
            <a:off x="2770632" y="1472184"/>
            <a:ext cx="2130552" cy="1432667"/>
          </a:xfrm>
          <a:prstGeom prst="roundRect">
            <a:avLst>
              <a:gd name="adj" fmla="val 3830"/>
            </a:avLst>
          </a:prstGeom>
          <a:solidFill>
            <a:srgbClr val="FFFFFF"/>
          </a:solidFill>
          <a:ln w="9525">
            <a:solidFill>
              <a:srgbClr val="D5D8DD"/>
            </a:solidFill>
            <a:prstDash val="solid"/>
          </a:ln>
        </p:spPr>
      </p:sp>
      <p:pic>
        <p:nvPicPr>
          <p:cNvPr id="9" name="Image 1" descr="2  The background">    </p:cNvPr>
          <p:cNvPicPr>
            <a:picLocks noChangeAspect="1"/>
          </p:cNvPicPr>
          <p:nvPr/>
        </p:nvPicPr>
        <p:blipFill>
          <a:blip r:embed="rId2"/>
          <a:stretch>
            <a:fillRect/>
          </a:stretch>
        </p:blipFill>
        <p:spPr>
          <a:xfrm>
            <a:off x="2807208" y="1508760"/>
            <a:ext cx="2057400" cy="1359515"/>
          </a:xfrm>
          <a:prstGeom prst="rect">
            <a:avLst/>
          </a:prstGeom>
        </p:spPr>
      </p:pic>
      <p:sp>
        <p:nvSpPr>
          <p:cNvPr id="10" name="Text 5"/>
          <p:cNvSpPr txBox="1"/>
          <p:nvPr/>
        </p:nvSpPr>
        <p:spPr>
          <a:xfrm>
            <a:off x="2807208" y="3017520"/>
            <a:ext cx="2103120" cy="274320"/>
          </a:xfrm>
          <a:prstGeom prst="rect">
            <a:avLst/>
          </a:prstGeom>
          <a:noFill/>
          <a:ln/>
        </p:spPr>
        <p:txBody>
          <a:bodyPr wrap="square" lIns="0" tIns="0" rIns="0" bIns="0" rtlCol="0" anchor="t"/>
          <a:lstStyle/>
          <a:p>
            <a:pPr indent="0" marL="0">
              <a:buNone/>
            </a:pPr>
            <a:r>
              <a:rPr lang="en-US" sz="1400" b="1" dirty="0">
                <a:solidFill>
                  <a:srgbClr val="1473E6"/>
                </a:solidFill>
                <a:latin typeface="Segoe UI" pitchFamily="34" charset="0"/>
                <a:ea typeface="Segoe UI" pitchFamily="34" charset="-122"/>
                <a:cs typeface="Segoe UI" pitchFamily="34" charset="-120"/>
              </a:rPr>
              <a:t>2  The background</a:t>
            </a:r>
            <a:endParaRPr lang="en-US" sz="1400" dirty="0"/>
          </a:p>
        </p:txBody>
      </p:sp>
      <p:sp>
        <p:nvSpPr>
          <p:cNvPr id="11" name="Shape 6"/>
          <p:cNvSpPr/>
          <p:nvPr/>
        </p:nvSpPr>
        <p:spPr>
          <a:xfrm>
            <a:off x="5029200" y="1472184"/>
            <a:ext cx="2130552" cy="1432667"/>
          </a:xfrm>
          <a:prstGeom prst="roundRect">
            <a:avLst>
              <a:gd name="adj" fmla="val 3830"/>
            </a:avLst>
          </a:prstGeom>
          <a:solidFill>
            <a:srgbClr val="FFFFFF"/>
          </a:solidFill>
          <a:ln w="9525">
            <a:solidFill>
              <a:srgbClr val="D5D8DD"/>
            </a:solidFill>
            <a:prstDash val="solid"/>
          </a:ln>
        </p:spPr>
      </p:sp>
      <p:pic>
        <p:nvPicPr>
          <p:cNvPr id="12" name="Image 2" descr="3  What differs">    </p:cNvPr>
          <p:cNvPicPr>
            <a:picLocks noChangeAspect="1"/>
          </p:cNvPicPr>
          <p:nvPr/>
        </p:nvPicPr>
        <p:blipFill>
          <a:blip r:embed="rId3"/>
          <a:stretch>
            <a:fillRect/>
          </a:stretch>
        </p:blipFill>
        <p:spPr>
          <a:xfrm>
            <a:off x="5065776" y="1508760"/>
            <a:ext cx="2057400" cy="1359515"/>
          </a:xfrm>
          <a:prstGeom prst="rect">
            <a:avLst/>
          </a:prstGeom>
        </p:spPr>
      </p:pic>
      <p:sp>
        <p:nvSpPr>
          <p:cNvPr id="13" name="Text 7"/>
          <p:cNvSpPr txBox="1"/>
          <p:nvPr/>
        </p:nvSpPr>
        <p:spPr>
          <a:xfrm>
            <a:off x="5065776" y="3017520"/>
            <a:ext cx="2103120" cy="274320"/>
          </a:xfrm>
          <a:prstGeom prst="rect">
            <a:avLst/>
          </a:prstGeom>
          <a:noFill/>
          <a:ln/>
        </p:spPr>
        <p:txBody>
          <a:bodyPr wrap="square" lIns="0" tIns="0" rIns="0" bIns="0" rtlCol="0" anchor="t"/>
          <a:lstStyle/>
          <a:p>
            <a:pPr indent="0" marL="0">
              <a:buNone/>
            </a:pPr>
            <a:r>
              <a:rPr lang="en-US" sz="1400" b="1" dirty="0">
                <a:solidFill>
                  <a:srgbClr val="1473E6"/>
                </a:solidFill>
                <a:latin typeface="Segoe UI" pitchFamily="34" charset="0"/>
                <a:ea typeface="Segoe UI" pitchFamily="34" charset="-122"/>
                <a:cs typeface="Segoe UI" pitchFamily="34" charset="-120"/>
              </a:rPr>
              <a:t>3  What differs</a:t>
            </a:r>
            <a:endParaRPr lang="en-US" sz="1400" dirty="0"/>
          </a:p>
        </p:txBody>
      </p:sp>
      <p:sp>
        <p:nvSpPr>
          <p:cNvPr id="14" name="Shape 8"/>
          <p:cNvSpPr/>
          <p:nvPr/>
        </p:nvSpPr>
        <p:spPr>
          <a:xfrm>
            <a:off x="7287768" y="1472184"/>
            <a:ext cx="2130552" cy="1432667"/>
          </a:xfrm>
          <a:prstGeom prst="roundRect">
            <a:avLst>
              <a:gd name="adj" fmla="val 3830"/>
            </a:avLst>
          </a:prstGeom>
          <a:solidFill>
            <a:srgbClr val="FFFFFF"/>
          </a:solidFill>
          <a:ln w="9525">
            <a:solidFill>
              <a:srgbClr val="D5D8DD"/>
            </a:solidFill>
            <a:prstDash val="solid"/>
          </a:ln>
        </p:spPr>
      </p:sp>
      <p:pic>
        <p:nvPicPr>
          <p:cNvPr id="15" name="Image 3" descr="4  Fill it in">    </p:cNvPr>
          <p:cNvPicPr>
            <a:picLocks noChangeAspect="1"/>
          </p:cNvPicPr>
          <p:nvPr/>
        </p:nvPicPr>
        <p:blipFill>
          <a:blip r:embed="rId4"/>
          <a:stretch>
            <a:fillRect/>
          </a:stretch>
        </p:blipFill>
        <p:spPr>
          <a:xfrm>
            <a:off x="7324344" y="1508760"/>
            <a:ext cx="2057400" cy="1359515"/>
          </a:xfrm>
          <a:prstGeom prst="rect">
            <a:avLst/>
          </a:prstGeom>
        </p:spPr>
      </p:pic>
      <p:sp>
        <p:nvSpPr>
          <p:cNvPr id="16" name="Text 9"/>
          <p:cNvSpPr txBox="1"/>
          <p:nvPr/>
        </p:nvSpPr>
        <p:spPr>
          <a:xfrm>
            <a:off x="7324344" y="3017520"/>
            <a:ext cx="2103120" cy="274320"/>
          </a:xfrm>
          <a:prstGeom prst="rect">
            <a:avLst/>
          </a:prstGeom>
          <a:noFill/>
          <a:ln/>
        </p:spPr>
        <p:txBody>
          <a:bodyPr wrap="square" lIns="0" tIns="0" rIns="0" bIns="0" rtlCol="0" anchor="t"/>
          <a:lstStyle/>
          <a:p>
            <a:pPr indent="0" marL="0">
              <a:buNone/>
            </a:pPr>
            <a:r>
              <a:rPr lang="en-US" sz="1400" b="1" dirty="0">
                <a:solidFill>
                  <a:srgbClr val="1473E6"/>
                </a:solidFill>
                <a:latin typeface="Segoe UI" pitchFamily="34" charset="0"/>
                <a:ea typeface="Segoe UI" pitchFamily="34" charset="-122"/>
                <a:cs typeface="Segoe UI" pitchFamily="34" charset="-120"/>
              </a:rPr>
              <a:t>4  Fill it in</a:t>
            </a:r>
            <a:endParaRPr lang="en-US" sz="1400" dirty="0"/>
          </a:p>
        </p:txBody>
      </p:sp>
      <p:sp>
        <p:nvSpPr>
          <p:cNvPr id="17" name="Shape 10"/>
          <p:cNvSpPr/>
          <p:nvPr/>
        </p:nvSpPr>
        <p:spPr>
          <a:xfrm>
            <a:off x="9546336" y="1472184"/>
            <a:ext cx="2130552" cy="1432667"/>
          </a:xfrm>
          <a:prstGeom prst="roundRect">
            <a:avLst>
              <a:gd name="adj" fmla="val 3830"/>
            </a:avLst>
          </a:prstGeom>
          <a:solidFill>
            <a:srgbClr val="FFFFFF"/>
          </a:solidFill>
          <a:ln w="9525">
            <a:solidFill>
              <a:srgbClr val="D5D8DD"/>
            </a:solidFill>
            <a:prstDash val="solid"/>
          </a:ln>
        </p:spPr>
      </p:sp>
      <p:pic>
        <p:nvPicPr>
          <p:cNvPr id="18" name="Image 4" descr="5  Trace the edge">    </p:cNvPr>
          <p:cNvPicPr>
            <a:picLocks noChangeAspect="1"/>
          </p:cNvPicPr>
          <p:nvPr/>
        </p:nvPicPr>
        <p:blipFill>
          <a:blip r:embed="rId5"/>
          <a:stretch>
            <a:fillRect/>
          </a:stretch>
        </p:blipFill>
        <p:spPr>
          <a:xfrm>
            <a:off x="9582912" y="1508760"/>
            <a:ext cx="2057400" cy="1359515"/>
          </a:xfrm>
          <a:prstGeom prst="rect">
            <a:avLst/>
          </a:prstGeom>
        </p:spPr>
      </p:pic>
      <p:sp>
        <p:nvSpPr>
          <p:cNvPr id="19" name="Text 11"/>
          <p:cNvSpPr txBox="1"/>
          <p:nvPr/>
        </p:nvSpPr>
        <p:spPr>
          <a:xfrm>
            <a:off x="9582912" y="3017520"/>
            <a:ext cx="2103120" cy="274320"/>
          </a:xfrm>
          <a:prstGeom prst="rect">
            <a:avLst/>
          </a:prstGeom>
          <a:noFill/>
          <a:ln/>
        </p:spPr>
        <p:txBody>
          <a:bodyPr wrap="square" lIns="0" tIns="0" rIns="0" bIns="0" rtlCol="0" anchor="t"/>
          <a:lstStyle/>
          <a:p>
            <a:pPr indent="0" marL="0">
              <a:buNone/>
            </a:pPr>
            <a:r>
              <a:rPr lang="en-US" sz="1400" b="1" dirty="0">
                <a:solidFill>
                  <a:srgbClr val="1473E6"/>
                </a:solidFill>
                <a:latin typeface="Segoe UI" pitchFamily="34" charset="0"/>
                <a:ea typeface="Segoe UI" pitchFamily="34" charset="-122"/>
                <a:cs typeface="Segoe UI" pitchFamily="34" charset="-120"/>
              </a:rPr>
              <a:t>5  Trace the edge</a:t>
            </a:r>
            <a:endParaRPr lang="en-US" sz="1400" dirty="0"/>
          </a:p>
        </p:txBody>
      </p:sp>
      <p:sp>
        <p:nvSpPr>
          <p:cNvPr id="20" name="Text 12"/>
          <p:cNvSpPr txBox="1"/>
          <p:nvPr/>
        </p:nvSpPr>
        <p:spPr>
          <a:xfrm>
            <a:off x="548640" y="3840480"/>
            <a:ext cx="11064240" cy="2377440"/>
          </a:xfrm>
          <a:prstGeom prst="rect">
            <a:avLst/>
          </a:prstGeom>
          <a:noFill/>
          <a:ln/>
        </p:spPr>
        <p:txBody>
          <a:bodyPr wrap="square" lIns="0" tIns="0" rIns="0" bIns="0" rtlCol="0" anchor="t"/>
          <a:lstStyle/>
          <a:p>
            <a:pPr marL="203200" indent="-203200">
              <a:spcAft>
                <a:spcPts val="1200"/>
              </a:spcAft>
              <a:buSzPct val="100000"/>
              <a:buChar char="•"/>
            </a:pPr>
            <a:r>
              <a:rPr lang="en-US" sz="1700" b="1" dirty="0">
                <a:solidFill>
                  <a:srgbClr val="1473E6"/>
                </a:solidFill>
                <a:latin typeface="Segoe UI" pitchFamily="34" charset="0"/>
                <a:ea typeface="Segoe UI" pitchFamily="34" charset="-122"/>
                <a:cs typeface="Segoe UI" pitchFamily="34" charset="-120"/>
              </a:rPr>
              <a:t>Compare with the background: </a:t>
            </a:r>
            <a:pPr indent="0" marL="0">
              <a:buNone/>
            </a:pPr>
            <a:r>
              <a:rPr lang="en-US" sz="1700" dirty="0">
                <a:solidFill>
                  <a:srgbClr val="1F2328"/>
                </a:solidFill>
                <a:latin typeface="Segoe UI" pitchFamily="34" charset="0"/>
                <a:ea typeface="Segoe UI" pitchFamily="34" charset="-122"/>
                <a:cs typeface="Segoe UI" pitchFamily="34" charset="-120"/>
              </a:rPr>
              <a:t>guess what the empty background looks like, then mark every pixel that is different.</a:t>
            </a:r>
            <a:endParaRPr lang="en-US" sz="1700" dirty="0"/>
          </a:p>
          <a:p>
            <a:pPr marL="203200" indent="-203200">
              <a:spcAft>
                <a:spcPts val="1200"/>
              </a:spcAft>
              <a:buSzPct val="100000"/>
              <a:buChar char="•"/>
            </a:pPr>
            <a:r>
              <a:rPr lang="en-US" sz="1700" b="1" dirty="0">
                <a:solidFill>
                  <a:srgbClr val="1473E6"/>
                </a:solidFill>
                <a:latin typeface="Segoe UI" pitchFamily="34" charset="0"/>
                <a:ea typeface="Segoe UI" pitchFamily="34" charset="-122"/>
                <a:cs typeface="Segoe UI" pitchFamily="34" charset="-120"/>
              </a:rPr>
              <a:t>Keep the biggest piece: </a:t>
            </a:r>
            <a:pPr indent="0" marL="0">
              <a:buNone/>
            </a:pPr>
            <a:r>
              <a:rPr lang="en-US" sz="1700" dirty="0">
                <a:solidFill>
                  <a:srgbClr val="1F2328"/>
                </a:solidFill>
                <a:latin typeface="Segoe UI" pitchFamily="34" charset="0"/>
                <a:ea typeface="Segoe UI" pitchFamily="34" charset="-122"/>
                <a:cs typeface="Segoe UI" pitchFamily="34" charset="-120"/>
              </a:rPr>
              <a:t>throw away specks and fill any holes, so the object is solid.</a:t>
            </a:r>
            <a:endParaRPr lang="en-US" sz="1700" dirty="0"/>
          </a:p>
          <a:p>
            <a:pPr marL="203200" indent="-203200">
              <a:spcAft>
                <a:spcPts val="1200"/>
              </a:spcAft>
              <a:buSzPct val="100000"/>
              <a:buChar char="•"/>
            </a:pPr>
            <a:r>
              <a:rPr lang="en-US" sz="1700" b="1" dirty="0">
                <a:solidFill>
                  <a:srgbClr val="1473E6"/>
                </a:solidFill>
                <a:latin typeface="Segoe UI" pitchFamily="34" charset="0"/>
                <a:ea typeface="Segoe UI" pitchFamily="34" charset="-122"/>
                <a:cs typeface="Segoe UI" pitchFamily="34" charset="-120"/>
              </a:rPr>
              <a:t>Trace the edge: </a:t>
            </a:r>
            <a:pPr indent="0" marL="0">
              <a:buNone/>
            </a:pPr>
            <a:r>
              <a:rPr lang="en-US" sz="1700" dirty="0">
                <a:solidFill>
                  <a:srgbClr val="1F2328"/>
                </a:solidFill>
                <a:latin typeface="Segoe UI" pitchFamily="34" charset="0"/>
                <a:ea typeface="Segoe UI" pitchFamily="34" charset="-122"/>
                <a:cs typeface="Segoe UI" pitchFamily="34" charset="-120"/>
              </a:rPr>
              <a:t>walk around the shape and keep only the corner points.</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MEASURING QUALITY</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How do we know it works?</a:t>
            </a:r>
            <a:endParaRPr lang="en-US" sz="3200" dirty="0"/>
          </a:p>
        </p:txBody>
      </p:sp>
      <p:sp>
        <p:nvSpPr>
          <p:cNvPr id="5" name="Text 2"/>
          <p:cNvSpPr txBox="1"/>
          <p:nvPr/>
        </p:nvSpPr>
        <p:spPr>
          <a:xfrm>
            <a:off x="548640" y="1463040"/>
            <a:ext cx="5212080" cy="365760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rgbClr val="1473E6"/>
                </a:solidFill>
                <a:latin typeface="Segoe UI" pitchFamily="34" charset="0"/>
                <a:ea typeface="Segoe UI" pitchFamily="34" charset="-122"/>
                <a:cs typeface="Segoe UI" pitchFamily="34" charset="-120"/>
              </a:rPr>
              <a:t>Finding hands: </a:t>
            </a:r>
            <a:pPr indent="0" marL="0">
              <a:buNone/>
            </a:pPr>
            <a:r>
              <a:rPr lang="en-US" sz="1600" dirty="0">
                <a:solidFill>
                  <a:srgbClr val="1F2328"/>
                </a:solidFill>
                <a:latin typeface="Segoe UI" pitchFamily="34" charset="0"/>
                <a:ea typeface="Segoe UI" pitchFamily="34" charset="-122"/>
                <a:cs typeface="Segoe UI" pitchFamily="34" charset="-120"/>
              </a:rPr>
              <a:t>one quick scan finds where the hands are, then a second look reads the details.</a:t>
            </a:r>
            <a:endParaRPr lang="en-US" sz="1600" dirty="0"/>
          </a:p>
          <a:p>
            <a:pPr marL="203200" indent="-203200">
              <a:spcAft>
                <a:spcPts val="1200"/>
              </a:spcAft>
              <a:buSzPct val="100000"/>
              <a:buChar char="•"/>
            </a:pPr>
            <a:r>
              <a:rPr lang="en-US" sz="1600" b="1" dirty="0">
                <a:solidFill>
                  <a:srgbClr val="1473E6"/>
                </a:solidFill>
                <a:latin typeface="Segoe UI" pitchFamily="34" charset="0"/>
                <a:ea typeface="Segoe UI" pitchFamily="34" charset="-122"/>
                <a:cs typeface="Segoe UI" pitchFamily="34" charset="-120"/>
              </a:rPr>
              <a:t>Small or far hands: </a:t>
            </a:r>
            <a:pPr indent="0" marL="0">
              <a:buNone/>
            </a:pPr>
            <a:r>
              <a:rPr lang="en-US" sz="1600" dirty="0">
                <a:solidFill>
                  <a:srgbClr val="1F2328"/>
                </a:solidFill>
                <a:latin typeface="Segoe UI" pitchFamily="34" charset="0"/>
                <a:ea typeface="Segoe UI" pitchFamily="34" charset="-122"/>
                <a:cs typeface="Segoe UI" pitchFamily="34" charset="-120"/>
              </a:rPr>
              <a:t>zoom in on them first, then look again.</a:t>
            </a:r>
            <a:endParaRPr lang="en-US" sz="1600" dirty="0"/>
          </a:p>
          <a:p>
            <a:pPr marL="203200" indent="-203200">
              <a:spcAft>
                <a:spcPts val="1200"/>
              </a:spcAft>
              <a:buSzPct val="100000"/>
              <a:buChar char="•"/>
            </a:pPr>
            <a:r>
              <a:rPr lang="en-US" sz="1600" b="1" dirty="0">
                <a:solidFill>
                  <a:srgbClr val="1473E6"/>
                </a:solidFill>
                <a:latin typeface="Segoe UI" pitchFamily="34" charset="0"/>
                <a:ea typeface="Segoe UI" pitchFamily="34" charset="-122"/>
                <a:cs typeface="Segoe UI" pitchFamily="34" charset="-120"/>
              </a:rPr>
              <a:t>A score for the answer: </a:t>
            </a:r>
            <a:pPr indent="0" marL="0">
              <a:buNone/>
            </a:pPr>
            <a:r>
              <a:rPr lang="en-US" sz="1600" dirty="0">
                <a:solidFill>
                  <a:srgbClr val="1F2328"/>
                </a:solidFill>
                <a:latin typeface="Segoe UI" pitchFamily="34" charset="0"/>
                <a:ea typeface="Segoe UI" pitchFamily="34" charset="-122"/>
                <a:cs typeface="Segoe UI" pitchFamily="34" charset="-120"/>
              </a:rPr>
              <a:t>IoU is how much our answer overlaps the true shape. 1.0 is perfect.</a:t>
            </a:r>
            <a:endParaRPr lang="en-US" sz="1600" dirty="0"/>
          </a:p>
        </p:txBody>
      </p:sp>
      <p:sp>
        <p:nvSpPr>
          <p:cNvPr id="6" name="Shape 3"/>
          <p:cNvSpPr/>
          <p:nvPr/>
        </p:nvSpPr>
        <p:spPr>
          <a:xfrm>
            <a:off x="548640" y="4754880"/>
            <a:ext cx="5212080" cy="1005840"/>
          </a:xfrm>
          <a:prstGeom prst="roundRect">
            <a:avLst>
              <a:gd name="adj" fmla="val 9091"/>
            </a:avLst>
          </a:prstGeom>
          <a:solidFill>
            <a:srgbClr val="F3F4F6"/>
          </a:solidFill>
          <a:ln w="9525">
            <a:solidFill>
              <a:srgbClr val="D5D8DD"/>
            </a:solidFill>
            <a:prstDash val="solid"/>
          </a:ln>
        </p:spPr>
      </p:sp>
      <p:sp>
        <p:nvSpPr>
          <p:cNvPr id="7" name="Text 4"/>
          <p:cNvSpPr txBox="1"/>
          <p:nvPr/>
        </p:nvSpPr>
        <p:spPr>
          <a:xfrm>
            <a:off x="777240" y="4892040"/>
            <a:ext cx="4754880" cy="731520"/>
          </a:xfrm>
          <a:prstGeom prst="rect">
            <a:avLst/>
          </a:prstGeom>
          <a:noFill/>
          <a:ln/>
        </p:spPr>
        <p:txBody>
          <a:bodyPr wrap="square" lIns="0" tIns="0" rIns="0" bIns="0" rtlCol="0" anchor="ctr"/>
          <a:lstStyle/>
          <a:p>
            <a:pPr indent="0" marL="0">
              <a:buNone/>
            </a:pPr>
            <a:r>
              <a:rPr lang="en-US" sz="1600" b="1" dirty="0">
                <a:solidFill>
                  <a:srgbClr val="1473E6"/>
                </a:solidFill>
                <a:latin typeface="Segoe UI" pitchFamily="34" charset="0"/>
                <a:ea typeface="Segoe UI" pitchFamily="34" charset="-122"/>
                <a:cs typeface="Segoe UI" pitchFamily="34" charset="-120"/>
              </a:rPr>
              <a:t>Our outlines score about 0.98, even with a lot of noise in the picture.</a:t>
            </a:r>
            <a:endParaRPr lang="en-US" sz="1600" dirty="0"/>
          </a:p>
        </p:txBody>
      </p:sp>
      <p:graphicFrame>
        <p:nvGraphicFramePr>
          <p:cNvPr id="8" name="Chart 0" descr=""/>
          <p:cNvGraphicFramePr/>
          <p:nvPr/>
        </p:nvGraphicFramePr>
        <p:xfrm>
          <a:off x="6035040" y="1463040"/>
          <a:ext cx="557784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MAKING THE 3D SHAPE</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Visual hull: carving a shape from outlines</a:t>
            </a:r>
            <a:endParaRPr lang="en-US" sz="3200" dirty="0"/>
          </a:p>
        </p:txBody>
      </p:sp>
      <p:sp>
        <p:nvSpPr>
          <p:cNvPr id="5" name="Shape 2"/>
          <p:cNvSpPr/>
          <p:nvPr/>
        </p:nvSpPr>
        <p:spPr>
          <a:xfrm>
            <a:off x="548640" y="1508760"/>
            <a:ext cx="457200" cy="457200"/>
          </a:xfrm>
          <a:prstGeom prst="ellipse">
            <a:avLst/>
          </a:prstGeom>
          <a:solidFill>
            <a:srgbClr val="1473E6"/>
          </a:solidFill>
          <a:ln w="6350">
            <a:solidFill>
              <a:srgbClr val="1473E6"/>
            </a:solidFill>
            <a:prstDash val="solid"/>
          </a:ln>
        </p:spPr>
      </p:sp>
      <p:sp>
        <p:nvSpPr>
          <p:cNvPr id="6" name="Text 3"/>
          <p:cNvSpPr txBox="1"/>
          <p:nvPr/>
        </p:nvSpPr>
        <p:spPr>
          <a:xfrm>
            <a:off x="548640" y="1527048"/>
            <a:ext cx="45720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7" name="Text 4"/>
          <p:cNvSpPr txBox="1"/>
          <p:nvPr/>
        </p:nvSpPr>
        <p:spPr>
          <a:xfrm>
            <a:off x="1188720" y="1536192"/>
            <a:ext cx="4480560" cy="411480"/>
          </a:xfrm>
          <a:prstGeom prst="rect">
            <a:avLst/>
          </a:prstGeom>
          <a:noFill/>
          <a:ln/>
        </p:spPr>
        <p:txBody>
          <a:bodyPr wrap="square" lIns="0" tIns="0" rIns="0" bIns="0" rtlCol="0" anchor="ctr"/>
          <a:lstStyle/>
          <a:p>
            <a:pPr indent="0" marL="0">
              <a:buNone/>
            </a:pPr>
            <a:r>
              <a:rPr lang="en-US" sz="1600" dirty="0">
                <a:solidFill>
                  <a:srgbClr val="1F2328"/>
                </a:solidFill>
                <a:latin typeface="Segoe UI" pitchFamily="34" charset="0"/>
                <a:ea typeface="Segoe UI" pitchFamily="34" charset="-122"/>
                <a:cs typeface="Segoe UI" pitchFamily="34" charset="-120"/>
              </a:rPr>
              <a:t>Get an outline for each view</a:t>
            </a:r>
            <a:endParaRPr lang="en-US" sz="1600" dirty="0"/>
          </a:p>
        </p:txBody>
      </p:sp>
      <p:sp>
        <p:nvSpPr>
          <p:cNvPr id="8" name="Shape 5"/>
          <p:cNvSpPr/>
          <p:nvPr/>
        </p:nvSpPr>
        <p:spPr>
          <a:xfrm>
            <a:off x="548640" y="2240280"/>
            <a:ext cx="457200" cy="457200"/>
          </a:xfrm>
          <a:prstGeom prst="ellipse">
            <a:avLst/>
          </a:prstGeom>
          <a:solidFill>
            <a:srgbClr val="1473E6"/>
          </a:solidFill>
          <a:ln w="6350">
            <a:solidFill>
              <a:srgbClr val="1473E6"/>
            </a:solidFill>
            <a:prstDash val="solid"/>
          </a:ln>
        </p:spPr>
      </p:sp>
      <p:sp>
        <p:nvSpPr>
          <p:cNvPr id="9" name="Text 6"/>
          <p:cNvSpPr txBox="1"/>
          <p:nvPr/>
        </p:nvSpPr>
        <p:spPr>
          <a:xfrm>
            <a:off x="548640" y="2258568"/>
            <a:ext cx="45720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0" name="Text 7"/>
          <p:cNvSpPr txBox="1"/>
          <p:nvPr/>
        </p:nvSpPr>
        <p:spPr>
          <a:xfrm>
            <a:off x="1188720" y="2267712"/>
            <a:ext cx="4480560" cy="411480"/>
          </a:xfrm>
          <a:prstGeom prst="rect">
            <a:avLst/>
          </a:prstGeom>
          <a:noFill/>
          <a:ln/>
        </p:spPr>
        <p:txBody>
          <a:bodyPr wrap="square" lIns="0" tIns="0" rIns="0" bIns="0" rtlCol="0" anchor="ctr"/>
          <a:lstStyle/>
          <a:p>
            <a:pPr indent="0" marL="0">
              <a:buNone/>
            </a:pPr>
            <a:r>
              <a:rPr lang="en-US" sz="1600" dirty="0">
                <a:solidFill>
                  <a:srgbClr val="1F2328"/>
                </a:solidFill>
                <a:latin typeface="Segoe UI" pitchFamily="34" charset="0"/>
                <a:ea typeface="Segoe UI" pitchFamily="34" charset="-122"/>
                <a:cs typeface="Segoe UI" pitchFamily="34" charset="-120"/>
              </a:rPr>
              <a:t>Make the views agree on sizes</a:t>
            </a:r>
            <a:endParaRPr lang="en-US" sz="1600" dirty="0"/>
          </a:p>
        </p:txBody>
      </p:sp>
      <p:sp>
        <p:nvSpPr>
          <p:cNvPr id="11" name="Shape 8"/>
          <p:cNvSpPr/>
          <p:nvPr/>
        </p:nvSpPr>
        <p:spPr>
          <a:xfrm>
            <a:off x="548640" y="2971800"/>
            <a:ext cx="457200" cy="457200"/>
          </a:xfrm>
          <a:prstGeom prst="ellipse">
            <a:avLst/>
          </a:prstGeom>
          <a:solidFill>
            <a:srgbClr val="1473E6"/>
          </a:solidFill>
          <a:ln w="6350">
            <a:solidFill>
              <a:srgbClr val="1473E6"/>
            </a:solidFill>
            <a:prstDash val="solid"/>
          </a:ln>
        </p:spPr>
      </p:sp>
      <p:sp>
        <p:nvSpPr>
          <p:cNvPr id="12" name="Text 9"/>
          <p:cNvSpPr txBox="1"/>
          <p:nvPr/>
        </p:nvSpPr>
        <p:spPr>
          <a:xfrm>
            <a:off x="548640" y="2990088"/>
            <a:ext cx="45720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13" name="Text 10"/>
          <p:cNvSpPr txBox="1"/>
          <p:nvPr/>
        </p:nvSpPr>
        <p:spPr>
          <a:xfrm>
            <a:off x="1188720" y="2999232"/>
            <a:ext cx="4480560" cy="411480"/>
          </a:xfrm>
          <a:prstGeom prst="rect">
            <a:avLst/>
          </a:prstGeom>
          <a:noFill/>
          <a:ln/>
        </p:spPr>
        <p:txBody>
          <a:bodyPr wrap="square" lIns="0" tIns="0" rIns="0" bIns="0" rtlCol="0" anchor="ctr"/>
          <a:lstStyle/>
          <a:p>
            <a:pPr indent="0" marL="0">
              <a:buNone/>
            </a:pPr>
            <a:r>
              <a:rPr lang="en-US" sz="1600" dirty="0">
                <a:solidFill>
                  <a:srgbClr val="1F2328"/>
                </a:solidFill>
                <a:latin typeface="Segoe UI" pitchFamily="34" charset="0"/>
                <a:ea typeface="Segoe UI" pitchFamily="34" charset="-122"/>
                <a:cs typeface="Segoe UI" pitchFamily="34" charset="-120"/>
              </a:rPr>
              <a:t>Stretch each outline into a tall block</a:t>
            </a:r>
            <a:endParaRPr lang="en-US" sz="1600" dirty="0"/>
          </a:p>
        </p:txBody>
      </p:sp>
      <p:sp>
        <p:nvSpPr>
          <p:cNvPr id="14" name="Shape 11"/>
          <p:cNvSpPr/>
          <p:nvPr/>
        </p:nvSpPr>
        <p:spPr>
          <a:xfrm>
            <a:off x="548640" y="3703320"/>
            <a:ext cx="457200" cy="457200"/>
          </a:xfrm>
          <a:prstGeom prst="ellipse">
            <a:avLst/>
          </a:prstGeom>
          <a:solidFill>
            <a:srgbClr val="1473E6"/>
          </a:solidFill>
          <a:ln w="6350">
            <a:solidFill>
              <a:srgbClr val="1473E6"/>
            </a:solidFill>
            <a:prstDash val="solid"/>
          </a:ln>
        </p:spPr>
      </p:sp>
      <p:sp>
        <p:nvSpPr>
          <p:cNvPr id="15" name="Text 12"/>
          <p:cNvSpPr txBox="1"/>
          <p:nvPr/>
        </p:nvSpPr>
        <p:spPr>
          <a:xfrm>
            <a:off x="548640" y="3721608"/>
            <a:ext cx="45720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16" name="Text 13"/>
          <p:cNvSpPr txBox="1"/>
          <p:nvPr/>
        </p:nvSpPr>
        <p:spPr>
          <a:xfrm>
            <a:off x="1188720" y="3730752"/>
            <a:ext cx="4480560" cy="411480"/>
          </a:xfrm>
          <a:prstGeom prst="rect">
            <a:avLst/>
          </a:prstGeom>
          <a:noFill/>
          <a:ln/>
        </p:spPr>
        <p:txBody>
          <a:bodyPr wrap="square" lIns="0" tIns="0" rIns="0" bIns="0" rtlCol="0" anchor="ctr"/>
          <a:lstStyle/>
          <a:p>
            <a:pPr indent="0" marL="0">
              <a:buNone/>
            </a:pPr>
            <a:r>
              <a:rPr lang="en-US" sz="1600" dirty="0">
                <a:solidFill>
                  <a:srgbClr val="1F2328"/>
                </a:solidFill>
                <a:latin typeface="Segoe UI" pitchFamily="34" charset="0"/>
                <a:ea typeface="Segoe UI" pitchFamily="34" charset="-122"/>
                <a:cs typeface="Segoe UI" pitchFamily="34" charset="-120"/>
              </a:rPr>
              <a:t>Keep only where every block overlaps</a:t>
            </a:r>
            <a:endParaRPr lang="en-US" sz="1600" dirty="0"/>
          </a:p>
        </p:txBody>
      </p:sp>
      <p:sp>
        <p:nvSpPr>
          <p:cNvPr id="17" name="Shape 14"/>
          <p:cNvSpPr/>
          <p:nvPr/>
        </p:nvSpPr>
        <p:spPr>
          <a:xfrm>
            <a:off x="548640" y="4434840"/>
            <a:ext cx="457200" cy="457200"/>
          </a:xfrm>
          <a:prstGeom prst="ellipse">
            <a:avLst/>
          </a:prstGeom>
          <a:solidFill>
            <a:srgbClr val="1473E6"/>
          </a:solidFill>
          <a:ln w="6350">
            <a:solidFill>
              <a:srgbClr val="1473E6"/>
            </a:solidFill>
            <a:prstDash val="solid"/>
          </a:ln>
        </p:spPr>
      </p:sp>
      <p:sp>
        <p:nvSpPr>
          <p:cNvPr id="18" name="Text 15"/>
          <p:cNvSpPr txBox="1"/>
          <p:nvPr/>
        </p:nvSpPr>
        <p:spPr>
          <a:xfrm>
            <a:off x="548640" y="4453128"/>
            <a:ext cx="45720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19" name="Text 16"/>
          <p:cNvSpPr txBox="1"/>
          <p:nvPr/>
        </p:nvSpPr>
        <p:spPr>
          <a:xfrm>
            <a:off x="1188720" y="4462272"/>
            <a:ext cx="4480560" cy="411480"/>
          </a:xfrm>
          <a:prstGeom prst="rect">
            <a:avLst/>
          </a:prstGeom>
          <a:noFill/>
          <a:ln/>
        </p:spPr>
        <p:txBody>
          <a:bodyPr wrap="square" lIns="0" tIns="0" rIns="0" bIns="0" rtlCol="0" anchor="ctr"/>
          <a:lstStyle/>
          <a:p>
            <a:pPr indent="0" marL="0">
              <a:buNone/>
            </a:pPr>
            <a:r>
              <a:rPr lang="en-US" sz="1600" dirty="0">
                <a:solidFill>
                  <a:srgbClr val="1F2328"/>
                </a:solidFill>
                <a:latin typeface="Segoe UI" pitchFamily="34" charset="0"/>
                <a:ea typeface="Segoe UI" pitchFamily="34" charset="-122"/>
                <a:cs typeface="Segoe UI" pitchFamily="34" charset="-120"/>
              </a:rPr>
              <a:t>Smooth the surface into a mesh</a:t>
            </a:r>
            <a:endParaRPr lang="en-US" sz="1600" dirty="0"/>
          </a:p>
        </p:txBody>
      </p:sp>
      <p:sp>
        <p:nvSpPr>
          <p:cNvPr id="20" name="Shape 17"/>
          <p:cNvSpPr/>
          <p:nvPr/>
        </p:nvSpPr>
        <p:spPr>
          <a:xfrm>
            <a:off x="548640" y="5303520"/>
            <a:ext cx="5120640" cy="868680"/>
          </a:xfrm>
          <a:prstGeom prst="roundRect">
            <a:avLst>
              <a:gd name="adj" fmla="val 10526"/>
            </a:avLst>
          </a:prstGeom>
          <a:solidFill>
            <a:srgbClr val="F3F4F6"/>
          </a:solidFill>
          <a:ln w="9525">
            <a:solidFill>
              <a:srgbClr val="D5D8DD"/>
            </a:solidFill>
            <a:prstDash val="solid"/>
          </a:ln>
        </p:spPr>
      </p:sp>
      <p:sp>
        <p:nvSpPr>
          <p:cNvPr id="21" name="Text 18"/>
          <p:cNvSpPr txBox="1"/>
          <p:nvPr/>
        </p:nvSpPr>
        <p:spPr>
          <a:xfrm>
            <a:off x="777240" y="5440680"/>
            <a:ext cx="4754880" cy="594360"/>
          </a:xfrm>
          <a:prstGeom prst="rect">
            <a:avLst/>
          </a:prstGeom>
          <a:noFill/>
          <a:ln/>
        </p:spPr>
        <p:txBody>
          <a:bodyPr wrap="square" lIns="0" tIns="0" rIns="0" bIns="0" rtlCol="0" anchor="ctr"/>
          <a:lstStyle/>
          <a:p>
            <a:pPr indent="0" marL="0">
              <a:buNone/>
            </a:pPr>
            <a:r>
              <a:rPr lang="en-US" sz="1500" b="1" dirty="0">
                <a:solidFill>
                  <a:srgbClr val="1473E6"/>
                </a:solidFill>
                <a:latin typeface="Segoe UI" pitchFamily="34" charset="0"/>
                <a:ea typeface="Segoe UI" pitchFamily="34" charset="-122"/>
                <a:cs typeface="Segoe UI" pitchFamily="34" charset="-120"/>
              </a:rPr>
              <a:t>Like carving: keep a piece only if all three views say "solid here".</a:t>
            </a:r>
            <a:endParaRPr lang="en-US" sz="1500" dirty="0"/>
          </a:p>
        </p:txBody>
      </p:sp>
      <p:sp>
        <p:nvSpPr>
          <p:cNvPr id="22" name="Shape 19"/>
          <p:cNvSpPr/>
          <p:nvPr/>
        </p:nvSpPr>
        <p:spPr>
          <a:xfrm>
            <a:off x="5861304" y="1517904"/>
            <a:ext cx="5788152" cy="3287840"/>
          </a:xfrm>
          <a:prstGeom prst="roundRect">
            <a:avLst>
              <a:gd name="adj" fmla="val 1669"/>
            </a:avLst>
          </a:prstGeom>
          <a:solidFill>
            <a:srgbClr val="FFFFFF"/>
          </a:solidFill>
          <a:ln w="9525">
            <a:solidFill>
              <a:srgbClr val="D5D8DD"/>
            </a:solidFill>
            <a:prstDash val="solid"/>
          </a:ln>
        </p:spPr>
      </p:sp>
      <p:pic>
        <p:nvPicPr>
          <p:cNvPr id="23" name="Image 0" descr="Three head drawings with traced outlines">    </p:cNvPr>
          <p:cNvPicPr>
            <a:picLocks noChangeAspect="1"/>
          </p:cNvPicPr>
          <p:nvPr/>
        </p:nvPicPr>
        <p:blipFill>
          <a:blip r:embed="rId1"/>
          <a:stretch>
            <a:fillRect/>
          </a:stretch>
        </p:blipFill>
        <p:spPr>
          <a:xfrm>
            <a:off x="5897880" y="1554480"/>
            <a:ext cx="5715000" cy="3214688"/>
          </a:xfrm>
          <a:prstGeom prst="rect">
            <a:avLst/>
          </a:prstGeom>
        </p:spPr>
      </p:pic>
      <p:sp>
        <p:nvSpPr>
          <p:cNvPr id="24" name="Text 20"/>
          <p:cNvSpPr txBox="1"/>
          <p:nvPr/>
        </p:nvSpPr>
        <p:spPr>
          <a:xfrm>
            <a:off x="5897880" y="4937760"/>
            <a:ext cx="5715000" cy="274320"/>
          </a:xfrm>
          <a:prstGeom prst="rect">
            <a:avLst/>
          </a:prstGeom>
          <a:noFill/>
          <a:ln/>
        </p:spPr>
        <p:txBody>
          <a:bodyPr wrap="square" lIns="0" tIns="0" rIns="0" bIns="0" rtlCol="0" anchor="t"/>
          <a:lstStyle/>
          <a:p>
            <a:pPr algn="ctr" indent="0" marL="0">
              <a:buNone/>
            </a:pPr>
            <a:r>
              <a:rPr lang="en-US" sz="1300" dirty="0">
                <a:solidFill>
                  <a:srgbClr val="5F6672"/>
                </a:solidFill>
                <a:latin typeface="Segoe UI" pitchFamily="34" charset="0"/>
                <a:ea typeface="Segoe UI" pitchFamily="34" charset="-122"/>
                <a:cs typeface="Segoe UI" pitchFamily="34" charset="-120"/>
              </a:rPr>
              <a:t>Three drawings and their traced outlines; Make 3D builds the hull.</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CASE STUDY</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How many views do we need?</a:t>
            </a:r>
            <a:endParaRPr lang="en-US" sz="3200" dirty="0"/>
          </a:p>
        </p:txBody>
      </p:sp>
      <p:graphicFrame>
        <p:nvGraphicFramePr>
          <p:cNvPr id="5" name="Chart 0" descr=""/>
          <p:cNvGraphicFramePr/>
          <p:nvPr/>
        </p:nvGraphicFramePr>
        <p:xfrm>
          <a:off x="548640" y="146304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172200" y="1463040"/>
            <a:ext cx="5440680" cy="365760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More views, better shape: </a:t>
            </a:r>
            <a:pPr indent="0" marL="0">
              <a:buNone/>
            </a:pPr>
            <a:r>
              <a:rPr lang="en-US" sz="1600" dirty="0">
                <a:solidFill>
                  <a:srgbClr val="1F2328"/>
                </a:solidFill>
                <a:latin typeface="Segoe UI" pitchFamily="34" charset="0"/>
                <a:ea typeface="Segoe UI" pitchFamily="34" charset="-122"/>
                <a:cs typeface="Segoe UI" pitchFamily="34" charset="-120"/>
              </a:rPr>
              <a:t>a sphere is 27% too big with 2 views and 12% too big with 3, exactly as the maths predicts.</a:t>
            </a:r>
            <a:endParaRPr lang="en-US" sz="1600" dirty="0"/>
          </a:p>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One view: </a:t>
            </a:r>
            <a:pPr indent="0" marL="0">
              <a:buNone/>
            </a:pPr>
            <a:r>
              <a:rPr lang="en-US" sz="1600" dirty="0">
                <a:solidFill>
                  <a:srgbClr val="1F2328"/>
                </a:solidFill>
                <a:latin typeface="Segoe UI" pitchFamily="34" charset="0"/>
                <a:ea typeface="Segoe UI" pitchFamily="34" charset="-122"/>
                <a:cs typeface="Segoe UI" pitchFamily="34" charset="-120"/>
              </a:rPr>
              <a:t>depth is a guess.</a:t>
            </a:r>
            <a:endParaRPr lang="en-US" sz="1600" dirty="0"/>
          </a:p>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Simple shapes: </a:t>
            </a:r>
            <a:pPr indent="0" marL="0">
              <a:buNone/>
            </a:pPr>
            <a:r>
              <a:rPr lang="en-US" sz="1600" dirty="0">
                <a:solidFill>
                  <a:srgbClr val="1F2328"/>
                </a:solidFill>
                <a:latin typeface="Segoe UI" pitchFamily="34" charset="0"/>
                <a:ea typeface="Segoe UI" pitchFamily="34" charset="-122"/>
                <a:cs typeface="Segoe UI" pitchFamily="34" charset="-120"/>
              </a:rPr>
              <a:t>a flat-sided bracket is already exact with 2 views.</a:t>
            </a:r>
            <a:endParaRPr lang="en-US" sz="1600" dirty="0"/>
          </a:p>
          <a:p>
            <a:pPr marL="203200" indent="-203200">
              <a:spcAft>
                <a:spcPts val="1000"/>
              </a:spcAft>
              <a:buSzPct val="100000"/>
              <a:buChar char="•"/>
            </a:pPr>
            <a:r>
              <a:rPr lang="en-US" sz="1600" b="1" dirty="0">
                <a:solidFill>
                  <a:srgbClr val="1473E6"/>
                </a:solidFill>
                <a:latin typeface="Segoe UI" pitchFamily="34" charset="0"/>
                <a:ea typeface="Segoe UI" pitchFamily="34" charset="-122"/>
                <a:cs typeface="Segoe UI" pitchFamily="34" charset="-120"/>
              </a:rPr>
              <a:t>The limit: </a:t>
            </a:r>
            <a:pPr indent="0" marL="0">
              <a:buNone/>
            </a:pPr>
            <a:r>
              <a:rPr lang="en-US" sz="1600" dirty="0">
                <a:solidFill>
                  <a:srgbClr val="1F2328"/>
                </a:solidFill>
                <a:latin typeface="Segoe UI" pitchFamily="34" charset="0"/>
                <a:ea typeface="Segoe UI" pitchFamily="34" charset="-122"/>
                <a:cs typeface="Segoe UI" pitchFamily="34" charset="-120"/>
              </a:rPr>
              <a:t>a hull can fill in dents, but never carve them out.</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5166360"/>
          <a:ext cx="7498080" cy="914400"/>
        </p:xfrm>
        <a:graphic>
          <a:graphicData uri="http://schemas.openxmlformats.org/drawingml/2006/table">
            <a:tbl>
              <a:tblPr/>
              <a:tblGrid>
                <a:gridCol w="1645920"/>
                <a:gridCol w="2011680"/>
                <a:gridCol w="2011680"/>
                <a:gridCol w="1828800"/>
              </a:tblGrid>
              <a:tr h="246888">
                <a:tc>
                  <a:txBody>
                    <a:bodyPr/>
                    <a:lstStyle/>
                    <a:p>
                      <a:pPr indent="0" marL="0">
                        <a:buNone/>
                      </a:pPr>
                      <a:r>
                        <a:rPr lang="en-US" sz="1200" b="1" dirty="0">
                          <a:solidFill>
                            <a:srgbClr val="5F6672"/>
                          </a:solidFill>
                          <a:latin typeface="Segoe UI" pitchFamily="34" charset="0"/>
                          <a:ea typeface="Segoe UI" pitchFamily="34" charset="-122"/>
                          <a:cs typeface="Segoe UI" pitchFamily="34" charset="-120"/>
                        </a:rPr>
                        <a:t>Detail</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c>
                  <a:txBody>
                    <a:bodyPr/>
                    <a:lstStyle/>
                    <a:p>
                      <a:pPr indent="0" marL="0">
                        <a:buNone/>
                      </a:pPr>
                      <a:r>
                        <a:rPr lang="en-US" sz="1200" b="1" dirty="0">
                          <a:solidFill>
                            <a:srgbClr val="5F6672"/>
                          </a:solidFill>
                          <a:latin typeface="Segoe UI" pitchFamily="34" charset="0"/>
                          <a:ea typeface="Segoe UI" pitchFamily="34" charset="-122"/>
                          <a:cs typeface="Segoe UI" pitchFamily="34" charset="-120"/>
                        </a:rPr>
                        <a:t>Build time</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c>
                  <a:txBody>
                    <a:bodyPr/>
                    <a:lstStyle/>
                    <a:p>
                      <a:pPr indent="0" marL="0">
                        <a:buNone/>
                      </a:pPr>
                      <a:r>
                        <a:rPr lang="en-US" sz="1200" b="1" dirty="0">
                          <a:solidFill>
                            <a:srgbClr val="5F6672"/>
                          </a:solidFill>
                          <a:latin typeface="Segoe UI" pitchFamily="34" charset="0"/>
                          <a:ea typeface="Segoe UI" pitchFamily="34" charset="-122"/>
                          <a:cs typeface="Segoe UI" pitchFamily="34" charset="-120"/>
                        </a:rPr>
                        <a:t>Triangles</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c>
                  <a:txBody>
                    <a:bodyPr/>
                    <a:lstStyle/>
                    <a:p>
                      <a:pPr indent="0" marL="0">
                        <a:buNone/>
                      </a:pPr>
                      <a:r>
                        <a:rPr lang="en-US" sz="1200" b="1" dirty="0">
                          <a:solidFill>
                            <a:srgbClr val="5F6672"/>
                          </a:solidFill>
                          <a:latin typeface="Segoe UI" pitchFamily="34" charset="0"/>
                          <a:ea typeface="Segoe UI" pitchFamily="34" charset="-122"/>
                          <a:cs typeface="Segoe UI" pitchFamily="34" charset="-120"/>
                        </a:rPr>
                        <a:t>Size error</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r>
              <a:tr h="246888">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Draft</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13 ms</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6,800</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-0.6%</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246888">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Normal</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30 ms</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14,940</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-0.2%</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246888">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Fine</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48 ms</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25,004</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-0.4%</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246888">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Very fine</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157 ms</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57,884</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Segoe UI" pitchFamily="34" charset="0"/>
                          <a:ea typeface="Segoe UI" pitchFamily="34" charset="-122"/>
                          <a:cs typeface="Segoe UI" pitchFamily="34" charset="-120"/>
                        </a:rPr>
                        <a:t>-0.1%</a:t>
                      </a:r>
                      <a:endParaRPr lang="en-US" sz="12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8229600" y="5349240"/>
            <a:ext cx="3383280" cy="457200"/>
          </a:xfrm>
          <a:prstGeom prst="rect">
            <a:avLst/>
          </a:prstGeom>
          <a:noFill/>
          <a:ln/>
        </p:spPr>
        <p:txBody>
          <a:bodyPr wrap="square" lIns="0" tIns="0" rIns="0" bIns="0" rtlCol="0" anchor="t"/>
          <a:lstStyle/>
          <a:p>
            <a:pPr indent="0" marL="0">
              <a:buNone/>
            </a:pPr>
            <a:r>
              <a:rPr lang="en-US" sz="1200" dirty="0">
                <a:solidFill>
                  <a:srgbClr val="5F6672"/>
                </a:solidFill>
                <a:latin typeface="Segoe UI" pitchFamily="34" charset="0"/>
                <a:ea typeface="Segoe UI" pitchFamily="34" charset="-122"/>
                <a:cs typeface="Segoe UI" pitchFamily="34" charset="-120"/>
              </a:rPr>
              <a:t>Measured on an L-shaped bracket.</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RESULTS</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Real pictures in, 3D objects out</a:t>
            </a:r>
            <a:endParaRPr lang="en-US" sz="3200" dirty="0"/>
          </a:p>
        </p:txBody>
      </p:sp>
      <p:sp>
        <p:nvSpPr>
          <p:cNvPr id="5" name="Shape 2"/>
          <p:cNvSpPr/>
          <p:nvPr/>
        </p:nvSpPr>
        <p:spPr>
          <a:xfrm>
            <a:off x="512064" y="1472184"/>
            <a:ext cx="2724912" cy="1876349"/>
          </a:xfrm>
          <a:prstGeom prst="roundRect">
            <a:avLst>
              <a:gd name="adj" fmla="val 2924"/>
            </a:avLst>
          </a:prstGeom>
          <a:solidFill>
            <a:srgbClr val="FFFFFF"/>
          </a:solidFill>
          <a:ln w="9525">
            <a:solidFill>
              <a:srgbClr val="D5D8DD"/>
            </a:solidFill>
            <a:prstDash val="solid"/>
          </a:ln>
        </p:spPr>
      </p:sp>
      <p:pic>
        <p:nvPicPr>
          <p:cNvPr id="6" name="Image 0" descr="Head and shoulders">    </p:cNvPr>
          <p:cNvPicPr>
            <a:picLocks noChangeAspect="1"/>
          </p:cNvPicPr>
          <p:nvPr/>
        </p:nvPicPr>
        <p:blipFill>
          <a:blip r:embed="rId1"/>
          <a:stretch>
            <a:fillRect/>
          </a:stretch>
        </p:blipFill>
        <p:spPr>
          <a:xfrm>
            <a:off x="548640" y="1508760"/>
            <a:ext cx="2651760" cy="1803197"/>
          </a:xfrm>
          <a:prstGeom prst="rect">
            <a:avLst/>
          </a:prstGeom>
        </p:spPr>
      </p:pic>
      <p:sp>
        <p:nvSpPr>
          <p:cNvPr id="7" name="Text 3"/>
          <p:cNvSpPr txBox="1"/>
          <p:nvPr/>
        </p:nvSpPr>
        <p:spPr>
          <a:xfrm>
            <a:off x="548640" y="3383280"/>
            <a:ext cx="2651760" cy="274320"/>
          </a:xfrm>
          <a:prstGeom prst="rect">
            <a:avLst/>
          </a:prstGeom>
          <a:noFill/>
          <a:ln/>
        </p:spPr>
        <p:txBody>
          <a:bodyPr wrap="square" lIns="0" tIns="0" rIns="0" bIns="0" rtlCol="0" anchor="t"/>
          <a:lstStyle/>
          <a:p>
            <a:pPr indent="0" marL="0">
              <a:buNone/>
            </a:pPr>
            <a:r>
              <a:rPr lang="en-US" sz="1500" b="1" dirty="0">
                <a:solidFill>
                  <a:srgbClr val="1473E6"/>
                </a:solidFill>
                <a:latin typeface="Segoe UI" pitchFamily="34" charset="0"/>
                <a:ea typeface="Segoe UI" pitchFamily="34" charset="-122"/>
                <a:cs typeface="Segoe UI" pitchFamily="34" charset="-120"/>
              </a:rPr>
              <a:t>Head and shoulders</a:t>
            </a:r>
            <a:endParaRPr lang="en-US" sz="1500" dirty="0"/>
          </a:p>
        </p:txBody>
      </p:sp>
      <p:sp>
        <p:nvSpPr>
          <p:cNvPr id="8" name="Text 4"/>
          <p:cNvSpPr txBox="1"/>
          <p:nvPr/>
        </p:nvSpPr>
        <p:spPr>
          <a:xfrm>
            <a:off x="548640" y="3675888"/>
            <a:ext cx="2651760" cy="457200"/>
          </a:xfrm>
          <a:prstGeom prst="rect">
            <a:avLst/>
          </a:prstGeom>
          <a:noFill/>
          <a:ln/>
        </p:spPr>
        <p:txBody>
          <a:bodyPr wrap="square" lIns="0" tIns="0" rIns="0" bIns="0" rtlCol="0" anchor="t"/>
          <a:lstStyle/>
          <a:p>
            <a:pPr indent="0" marL="0">
              <a:buNone/>
            </a:pPr>
            <a:r>
              <a:rPr lang="en-US" sz="1200" dirty="0">
                <a:solidFill>
                  <a:srgbClr val="5F6672"/>
                </a:solidFill>
                <a:latin typeface="Segoe UI" pitchFamily="34" charset="0"/>
                <a:ea typeface="Segoe UI" pitchFamily="34" charset="-122"/>
                <a:cs typeface="Segoe UI" pitchFamily="34" charset="-120"/>
              </a:rPr>
              <a:t>3 pencil drawings, 96% match</a:t>
            </a:r>
            <a:endParaRPr lang="en-US" sz="1200" dirty="0"/>
          </a:p>
        </p:txBody>
      </p:sp>
      <p:sp>
        <p:nvSpPr>
          <p:cNvPr id="9" name="Shape 5"/>
          <p:cNvSpPr/>
          <p:nvPr/>
        </p:nvSpPr>
        <p:spPr>
          <a:xfrm>
            <a:off x="3328416" y="1472184"/>
            <a:ext cx="2724912" cy="1876349"/>
          </a:xfrm>
          <a:prstGeom prst="roundRect">
            <a:avLst>
              <a:gd name="adj" fmla="val 2924"/>
            </a:avLst>
          </a:prstGeom>
          <a:solidFill>
            <a:srgbClr val="FFFFFF"/>
          </a:solidFill>
          <a:ln w="9525">
            <a:solidFill>
              <a:srgbClr val="D5D8DD"/>
            </a:solidFill>
            <a:prstDash val="solid"/>
          </a:ln>
        </p:spPr>
      </p:sp>
      <p:pic>
        <p:nvPicPr>
          <p:cNvPr id="10" name="Image 1" descr="House with chimney">    </p:cNvPr>
          <p:cNvPicPr>
            <a:picLocks noChangeAspect="1"/>
          </p:cNvPicPr>
          <p:nvPr/>
        </p:nvPicPr>
        <p:blipFill>
          <a:blip r:embed="rId2"/>
          <a:stretch>
            <a:fillRect/>
          </a:stretch>
        </p:blipFill>
        <p:spPr>
          <a:xfrm>
            <a:off x="3364992" y="1508760"/>
            <a:ext cx="2651760" cy="1803197"/>
          </a:xfrm>
          <a:prstGeom prst="rect">
            <a:avLst/>
          </a:prstGeom>
        </p:spPr>
      </p:pic>
      <p:sp>
        <p:nvSpPr>
          <p:cNvPr id="11" name="Text 6"/>
          <p:cNvSpPr txBox="1"/>
          <p:nvPr/>
        </p:nvSpPr>
        <p:spPr>
          <a:xfrm>
            <a:off x="3364992" y="3383280"/>
            <a:ext cx="2651760" cy="274320"/>
          </a:xfrm>
          <a:prstGeom prst="rect">
            <a:avLst/>
          </a:prstGeom>
          <a:noFill/>
          <a:ln/>
        </p:spPr>
        <p:txBody>
          <a:bodyPr wrap="square" lIns="0" tIns="0" rIns="0" bIns="0" rtlCol="0" anchor="t"/>
          <a:lstStyle/>
          <a:p>
            <a:pPr indent="0" marL="0">
              <a:buNone/>
            </a:pPr>
            <a:r>
              <a:rPr lang="en-US" sz="1500" b="1" dirty="0">
                <a:solidFill>
                  <a:srgbClr val="1473E6"/>
                </a:solidFill>
                <a:latin typeface="Segoe UI" pitchFamily="34" charset="0"/>
                <a:ea typeface="Segoe UI" pitchFamily="34" charset="-122"/>
                <a:cs typeface="Segoe UI" pitchFamily="34" charset="-120"/>
              </a:rPr>
              <a:t>House with chimney</a:t>
            </a:r>
            <a:endParaRPr lang="en-US" sz="1500" dirty="0"/>
          </a:p>
        </p:txBody>
      </p:sp>
      <p:sp>
        <p:nvSpPr>
          <p:cNvPr id="12" name="Text 7"/>
          <p:cNvSpPr txBox="1"/>
          <p:nvPr/>
        </p:nvSpPr>
        <p:spPr>
          <a:xfrm>
            <a:off x="3364992" y="3675888"/>
            <a:ext cx="2651760" cy="457200"/>
          </a:xfrm>
          <a:prstGeom prst="rect">
            <a:avLst/>
          </a:prstGeom>
          <a:noFill/>
          <a:ln/>
        </p:spPr>
        <p:txBody>
          <a:bodyPr wrap="square" lIns="0" tIns="0" rIns="0" bIns="0" rtlCol="0" anchor="t"/>
          <a:lstStyle/>
          <a:p>
            <a:pPr indent="0" marL="0">
              <a:buNone/>
            </a:pPr>
            <a:r>
              <a:rPr lang="en-US" sz="1200" dirty="0">
                <a:solidFill>
                  <a:srgbClr val="5F6672"/>
                </a:solidFill>
                <a:latin typeface="Segoe UI" pitchFamily="34" charset="0"/>
                <a:ea typeface="Segoe UI" pitchFamily="34" charset="-122"/>
                <a:cs typeface="Segoe UI" pitchFamily="34" charset="-120"/>
              </a:rPr>
              <a:t>3 pictures</a:t>
            </a:r>
            <a:endParaRPr lang="en-US" sz="1200" dirty="0"/>
          </a:p>
        </p:txBody>
      </p:sp>
      <p:sp>
        <p:nvSpPr>
          <p:cNvPr id="13" name="Shape 8"/>
          <p:cNvSpPr/>
          <p:nvPr/>
        </p:nvSpPr>
        <p:spPr>
          <a:xfrm>
            <a:off x="6144768" y="1472184"/>
            <a:ext cx="2724912" cy="1876349"/>
          </a:xfrm>
          <a:prstGeom prst="roundRect">
            <a:avLst>
              <a:gd name="adj" fmla="val 2924"/>
            </a:avLst>
          </a:prstGeom>
          <a:solidFill>
            <a:srgbClr val="FFFFFF"/>
          </a:solidFill>
          <a:ln w="9525">
            <a:solidFill>
              <a:srgbClr val="D5D8DD"/>
            </a:solidFill>
            <a:prstDash val="solid"/>
          </a:ln>
        </p:spPr>
      </p:sp>
      <p:pic>
        <p:nvPicPr>
          <p:cNvPr id="14" name="Image 2" descr="Rocket">    </p:cNvPr>
          <p:cNvPicPr>
            <a:picLocks noChangeAspect="1"/>
          </p:cNvPicPr>
          <p:nvPr/>
        </p:nvPicPr>
        <p:blipFill>
          <a:blip r:embed="rId3"/>
          <a:stretch>
            <a:fillRect/>
          </a:stretch>
        </p:blipFill>
        <p:spPr>
          <a:xfrm>
            <a:off x="6181344" y="1508760"/>
            <a:ext cx="2651760" cy="1803197"/>
          </a:xfrm>
          <a:prstGeom prst="rect">
            <a:avLst/>
          </a:prstGeom>
        </p:spPr>
      </p:pic>
      <p:sp>
        <p:nvSpPr>
          <p:cNvPr id="15" name="Text 9"/>
          <p:cNvSpPr txBox="1"/>
          <p:nvPr/>
        </p:nvSpPr>
        <p:spPr>
          <a:xfrm>
            <a:off x="6181344" y="3383280"/>
            <a:ext cx="2651760" cy="274320"/>
          </a:xfrm>
          <a:prstGeom prst="rect">
            <a:avLst/>
          </a:prstGeom>
          <a:noFill/>
          <a:ln/>
        </p:spPr>
        <p:txBody>
          <a:bodyPr wrap="square" lIns="0" tIns="0" rIns="0" bIns="0" rtlCol="0" anchor="t"/>
          <a:lstStyle/>
          <a:p>
            <a:pPr indent="0" marL="0">
              <a:buNone/>
            </a:pPr>
            <a:r>
              <a:rPr lang="en-US" sz="1500" b="1" dirty="0">
                <a:solidFill>
                  <a:srgbClr val="1473E6"/>
                </a:solidFill>
                <a:latin typeface="Segoe UI" pitchFamily="34" charset="0"/>
                <a:ea typeface="Segoe UI" pitchFamily="34" charset="-122"/>
                <a:cs typeface="Segoe UI" pitchFamily="34" charset="-120"/>
              </a:rPr>
              <a:t>Rocket</a:t>
            </a:r>
            <a:endParaRPr lang="en-US" sz="1500" dirty="0"/>
          </a:p>
        </p:txBody>
      </p:sp>
      <p:sp>
        <p:nvSpPr>
          <p:cNvPr id="16" name="Text 10"/>
          <p:cNvSpPr txBox="1"/>
          <p:nvPr/>
        </p:nvSpPr>
        <p:spPr>
          <a:xfrm>
            <a:off x="6181344" y="3675888"/>
            <a:ext cx="2651760" cy="457200"/>
          </a:xfrm>
          <a:prstGeom prst="rect">
            <a:avLst/>
          </a:prstGeom>
          <a:noFill/>
          <a:ln/>
        </p:spPr>
        <p:txBody>
          <a:bodyPr wrap="square" lIns="0" tIns="0" rIns="0" bIns="0" rtlCol="0" anchor="t"/>
          <a:lstStyle/>
          <a:p>
            <a:pPr indent="0" marL="0">
              <a:buNone/>
            </a:pPr>
            <a:r>
              <a:rPr lang="en-US" sz="1200" dirty="0">
                <a:solidFill>
                  <a:srgbClr val="5F6672"/>
                </a:solidFill>
                <a:latin typeface="Segoe UI" pitchFamily="34" charset="0"/>
                <a:ea typeface="Segoe UI" pitchFamily="34" charset="-122"/>
                <a:cs typeface="Segoe UI" pitchFamily="34" charset="-120"/>
              </a:rPr>
              <a:t>3 pictures; fins show only in the top view</a:t>
            </a:r>
            <a:endParaRPr lang="en-US" sz="1200" dirty="0"/>
          </a:p>
        </p:txBody>
      </p:sp>
      <p:sp>
        <p:nvSpPr>
          <p:cNvPr id="17" name="Shape 11"/>
          <p:cNvSpPr/>
          <p:nvPr/>
        </p:nvSpPr>
        <p:spPr>
          <a:xfrm>
            <a:off x="8961120" y="1472184"/>
            <a:ext cx="2724912" cy="1876349"/>
          </a:xfrm>
          <a:prstGeom prst="roundRect">
            <a:avLst>
              <a:gd name="adj" fmla="val 2924"/>
            </a:avLst>
          </a:prstGeom>
          <a:solidFill>
            <a:srgbClr val="FFFFFF"/>
          </a:solidFill>
          <a:ln w="9525">
            <a:solidFill>
              <a:srgbClr val="D5D8DD"/>
            </a:solidFill>
            <a:prstDash val="solid"/>
          </a:ln>
        </p:spPr>
      </p:sp>
      <p:pic>
        <p:nvPicPr>
          <p:cNvPr id="18" name="Image 3" descr="Vase">    </p:cNvPr>
          <p:cNvPicPr>
            <a:picLocks noChangeAspect="1"/>
          </p:cNvPicPr>
          <p:nvPr/>
        </p:nvPicPr>
        <p:blipFill>
          <a:blip r:embed="rId4"/>
          <a:stretch>
            <a:fillRect/>
          </a:stretch>
        </p:blipFill>
        <p:spPr>
          <a:xfrm>
            <a:off x="8997696" y="1508760"/>
            <a:ext cx="2651760" cy="1803197"/>
          </a:xfrm>
          <a:prstGeom prst="rect">
            <a:avLst/>
          </a:prstGeom>
        </p:spPr>
      </p:pic>
      <p:sp>
        <p:nvSpPr>
          <p:cNvPr id="19" name="Text 12"/>
          <p:cNvSpPr txBox="1"/>
          <p:nvPr/>
        </p:nvSpPr>
        <p:spPr>
          <a:xfrm>
            <a:off x="8997696" y="3383280"/>
            <a:ext cx="2651760" cy="274320"/>
          </a:xfrm>
          <a:prstGeom prst="rect">
            <a:avLst/>
          </a:prstGeom>
          <a:noFill/>
          <a:ln/>
        </p:spPr>
        <p:txBody>
          <a:bodyPr wrap="square" lIns="0" tIns="0" rIns="0" bIns="0" rtlCol="0" anchor="t"/>
          <a:lstStyle/>
          <a:p>
            <a:pPr indent="0" marL="0">
              <a:buNone/>
            </a:pPr>
            <a:r>
              <a:rPr lang="en-US" sz="1500" b="1" dirty="0">
                <a:solidFill>
                  <a:srgbClr val="1473E6"/>
                </a:solidFill>
                <a:latin typeface="Segoe UI" pitchFamily="34" charset="0"/>
                <a:ea typeface="Segoe UI" pitchFamily="34" charset="-122"/>
                <a:cs typeface="Segoe UI" pitchFamily="34" charset="-120"/>
              </a:rPr>
              <a:t>Vase</a:t>
            </a:r>
            <a:endParaRPr lang="en-US" sz="1500" dirty="0"/>
          </a:p>
        </p:txBody>
      </p:sp>
      <p:sp>
        <p:nvSpPr>
          <p:cNvPr id="20" name="Text 13"/>
          <p:cNvSpPr txBox="1"/>
          <p:nvPr/>
        </p:nvSpPr>
        <p:spPr>
          <a:xfrm>
            <a:off x="8997696" y="3675888"/>
            <a:ext cx="2651760" cy="457200"/>
          </a:xfrm>
          <a:prstGeom prst="rect">
            <a:avLst/>
          </a:prstGeom>
          <a:noFill/>
          <a:ln/>
        </p:spPr>
        <p:txBody>
          <a:bodyPr wrap="square" lIns="0" tIns="0" rIns="0" bIns="0" rtlCol="0" anchor="t"/>
          <a:lstStyle/>
          <a:p>
            <a:pPr indent="0" marL="0">
              <a:buNone/>
            </a:pPr>
            <a:r>
              <a:rPr lang="en-US" sz="1200" dirty="0">
                <a:solidFill>
                  <a:srgbClr val="5F6672"/>
                </a:solidFill>
                <a:latin typeface="Segoe UI" pitchFamily="34" charset="0"/>
                <a:ea typeface="Segoe UI" pitchFamily="34" charset="-122"/>
                <a:cs typeface="Segoe UI" pitchFamily="34" charset="-120"/>
              </a:rPr>
              <a:t>1 picture, spun into a round solid</a:t>
            </a:r>
            <a:endParaRPr lang="en-US" sz="1200" dirty="0"/>
          </a:p>
        </p:txBody>
      </p:sp>
      <p:sp>
        <p:nvSpPr>
          <p:cNvPr id="21" name="Shape 14"/>
          <p:cNvSpPr/>
          <p:nvPr/>
        </p:nvSpPr>
        <p:spPr>
          <a:xfrm>
            <a:off x="512064" y="4489704"/>
            <a:ext cx="6108192" cy="1427000"/>
          </a:xfrm>
          <a:prstGeom prst="roundRect">
            <a:avLst>
              <a:gd name="adj" fmla="val 3845"/>
            </a:avLst>
          </a:prstGeom>
          <a:solidFill>
            <a:srgbClr val="FFFFFF"/>
          </a:solidFill>
          <a:ln w="9525">
            <a:solidFill>
              <a:srgbClr val="D5D8DD"/>
            </a:solidFill>
            <a:prstDash val="solid"/>
          </a:ln>
        </p:spPr>
      </p:sp>
      <p:pic>
        <p:nvPicPr>
          <p:cNvPr id="22" name="Image 4" descr="The three input drawings of the head: front, side and top">    </p:cNvPr>
          <p:cNvPicPr>
            <a:picLocks noChangeAspect="1"/>
          </p:cNvPicPr>
          <p:nvPr/>
        </p:nvPicPr>
        <p:blipFill>
          <a:blip r:embed="rId5"/>
          <a:stretch>
            <a:fillRect/>
          </a:stretch>
        </p:blipFill>
        <p:spPr>
          <a:xfrm>
            <a:off x="548640" y="4526280"/>
            <a:ext cx="6035040" cy="1353848"/>
          </a:xfrm>
          <a:prstGeom prst="rect">
            <a:avLst/>
          </a:prstGeom>
        </p:spPr>
      </p:pic>
      <p:sp>
        <p:nvSpPr>
          <p:cNvPr id="23" name="Text 15"/>
          <p:cNvSpPr txBox="1"/>
          <p:nvPr/>
        </p:nvSpPr>
        <p:spPr>
          <a:xfrm>
            <a:off x="548640" y="6035040"/>
            <a:ext cx="6035040" cy="274320"/>
          </a:xfrm>
          <a:prstGeom prst="rect">
            <a:avLst/>
          </a:prstGeom>
          <a:noFill/>
          <a:ln/>
        </p:spPr>
        <p:txBody>
          <a:bodyPr wrap="square" lIns="0" tIns="0" rIns="0" bIns="0" rtlCol="0" anchor="t"/>
          <a:lstStyle/>
          <a:p>
            <a:pPr indent="0" marL="0">
              <a:buNone/>
            </a:pPr>
            <a:r>
              <a:rPr lang="en-US" sz="1200" dirty="0">
                <a:solidFill>
                  <a:srgbClr val="5F6672"/>
                </a:solidFill>
                <a:latin typeface="Segoe UI" pitchFamily="34" charset="0"/>
                <a:ea typeface="Segoe UI" pitchFamily="34" charset="-122"/>
                <a:cs typeface="Segoe UI" pitchFamily="34" charset="-120"/>
              </a:rPr>
              <a:t>The three input drawings: front, side, top</a:t>
            </a:r>
            <a:endParaRPr lang="en-US" sz="1200" dirty="0"/>
          </a:p>
        </p:txBody>
      </p:sp>
      <p:sp>
        <p:nvSpPr>
          <p:cNvPr id="24" name="Text 16"/>
          <p:cNvSpPr txBox="1"/>
          <p:nvPr/>
        </p:nvSpPr>
        <p:spPr>
          <a:xfrm>
            <a:off x="6949440" y="4663440"/>
            <a:ext cx="4663440" cy="1463040"/>
          </a:xfrm>
          <a:prstGeom prst="rect">
            <a:avLst/>
          </a:prstGeom>
          <a:noFill/>
          <a:ln/>
        </p:spPr>
        <p:txBody>
          <a:bodyPr wrap="square" lIns="0" tIns="0" rIns="0" bIns="0" rtlCol="0" anchor="t"/>
          <a:lstStyle/>
          <a:p>
            <a:pPr indent="0" marL="0">
              <a:buNone/>
            </a:pPr>
            <a:r>
              <a:rPr lang="en-US" sz="1500" dirty="0">
                <a:solidFill>
                  <a:srgbClr val="1F2328"/>
                </a:solidFill>
                <a:latin typeface="Segoe UI" pitchFamily="34" charset="0"/>
                <a:ea typeface="Segoe UI" pitchFamily="34" charset="-122"/>
                <a:cs typeface="Segoe UI" pitchFamily="34" charset="-120"/>
              </a:rPr>
              <a:t>The inputs are ordinary pictures. The app finds each outline, aligns the views and builds the mesh in the browser, with no 3D software and no training.</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ENGINEERING</a:t>
            </a:r>
            <a:endParaRPr lang="en-US" sz="1200" dirty="0"/>
          </a:p>
        </p:txBody>
      </p:sp>
      <p:sp>
        <p:nvSpPr>
          <p:cNvPr id="3" name="Text 1"/>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200" b="1" dirty="0">
                <a:solidFill>
                  <a:srgbClr val="1F2328"/>
                </a:solidFill>
                <a:latin typeface="Segoe UI" pitchFamily="34" charset="0"/>
                <a:ea typeface="Segoe UI" pitchFamily="34" charset="-122"/>
                <a:cs typeface="Segoe UI" pitchFamily="34" charset="-120"/>
              </a:rPr>
              <a:t>What was used, and where it comes from</a:t>
            </a:r>
            <a:endParaRPr lang="en-US" sz="3200" dirty="0"/>
          </a:p>
        </p:txBody>
      </p:sp>
      <p:sp>
        <p:nvSpPr>
          <p:cNvPr id="5" name="Shape 2"/>
          <p:cNvSpPr/>
          <p:nvPr/>
        </p:nvSpPr>
        <p:spPr>
          <a:xfrm>
            <a:off x="548640" y="1463040"/>
            <a:ext cx="2651760" cy="1280160"/>
          </a:xfrm>
          <a:prstGeom prst="roundRect">
            <a:avLst>
              <a:gd name="adj" fmla="val 7143"/>
            </a:avLst>
          </a:prstGeom>
          <a:solidFill>
            <a:srgbClr val="FFFFFF"/>
          </a:solidFill>
          <a:ln w="9525">
            <a:solidFill>
              <a:srgbClr val="D5D8DD"/>
            </a:solidFill>
            <a:prstDash val="solid"/>
          </a:ln>
        </p:spPr>
      </p:sp>
      <p:sp>
        <p:nvSpPr>
          <p:cNvPr id="6" name="Text 3"/>
          <p:cNvSpPr txBox="1"/>
          <p:nvPr/>
        </p:nvSpPr>
        <p:spPr>
          <a:xfrm>
            <a:off x="548640" y="1554480"/>
            <a:ext cx="2651760" cy="685800"/>
          </a:xfrm>
          <a:prstGeom prst="rect">
            <a:avLst/>
          </a:prstGeom>
          <a:noFill/>
          <a:ln/>
        </p:spPr>
        <p:txBody>
          <a:bodyPr wrap="square" lIns="0" tIns="0" rIns="0" bIns="0" rtlCol="0" anchor="t"/>
          <a:lstStyle/>
          <a:p>
            <a:pPr algn="ctr" indent="0" marL="0">
              <a:buNone/>
            </a:pPr>
            <a:r>
              <a:rPr lang="en-US" sz="4000" b="1" dirty="0">
                <a:solidFill>
                  <a:srgbClr val="1473E6"/>
                </a:solidFill>
                <a:latin typeface="Segoe UI" pitchFamily="34" charset="0"/>
                <a:ea typeface="Segoe UI" pitchFamily="34" charset="-122"/>
                <a:cs typeface="Segoe UI" pitchFamily="34" charset="-120"/>
              </a:rPr>
              <a:t>288</a:t>
            </a:r>
            <a:endParaRPr lang="en-US" sz="4000" dirty="0"/>
          </a:p>
        </p:txBody>
      </p:sp>
      <p:sp>
        <p:nvSpPr>
          <p:cNvPr id="7" name="Text 4"/>
          <p:cNvSpPr txBox="1"/>
          <p:nvPr/>
        </p:nvSpPr>
        <p:spPr>
          <a:xfrm>
            <a:off x="548640" y="2286000"/>
            <a:ext cx="2651760" cy="365760"/>
          </a:xfrm>
          <a:prstGeom prst="rect">
            <a:avLst/>
          </a:prstGeom>
          <a:noFill/>
          <a:ln/>
        </p:spPr>
        <p:txBody>
          <a:bodyPr wrap="square" lIns="0" tIns="0" rIns="0" bIns="0" rtlCol="0" anchor="t"/>
          <a:lstStyle/>
          <a:p>
            <a:pPr algn="ctr" indent="0" marL="0">
              <a:buNone/>
            </a:pPr>
            <a:r>
              <a:rPr lang="en-US" sz="1400" dirty="0">
                <a:solidFill>
                  <a:srgbClr val="5F6672"/>
                </a:solidFill>
                <a:latin typeface="Segoe UI" pitchFamily="34" charset="0"/>
                <a:ea typeface="Segoe UI" pitchFamily="34" charset="-122"/>
                <a:cs typeface="Segoe UI" pitchFamily="34" charset="-120"/>
              </a:rPr>
              <a:t>automated tests</a:t>
            </a:r>
            <a:endParaRPr lang="en-US" sz="1400" dirty="0"/>
          </a:p>
        </p:txBody>
      </p:sp>
      <p:sp>
        <p:nvSpPr>
          <p:cNvPr id="8" name="Shape 5"/>
          <p:cNvSpPr/>
          <p:nvPr/>
        </p:nvSpPr>
        <p:spPr>
          <a:xfrm>
            <a:off x="3364992" y="1463040"/>
            <a:ext cx="2651760" cy="1280160"/>
          </a:xfrm>
          <a:prstGeom prst="roundRect">
            <a:avLst>
              <a:gd name="adj" fmla="val 7143"/>
            </a:avLst>
          </a:prstGeom>
          <a:solidFill>
            <a:srgbClr val="FFFFFF"/>
          </a:solidFill>
          <a:ln w="9525">
            <a:solidFill>
              <a:srgbClr val="D5D8DD"/>
            </a:solidFill>
            <a:prstDash val="solid"/>
          </a:ln>
        </p:spPr>
      </p:sp>
      <p:sp>
        <p:nvSpPr>
          <p:cNvPr id="9" name="Text 6"/>
          <p:cNvSpPr txBox="1"/>
          <p:nvPr/>
        </p:nvSpPr>
        <p:spPr>
          <a:xfrm>
            <a:off x="3364992" y="1554480"/>
            <a:ext cx="2651760" cy="685800"/>
          </a:xfrm>
          <a:prstGeom prst="rect">
            <a:avLst/>
          </a:prstGeom>
          <a:noFill/>
          <a:ln/>
        </p:spPr>
        <p:txBody>
          <a:bodyPr wrap="square" lIns="0" tIns="0" rIns="0" bIns="0" rtlCol="0" anchor="t"/>
          <a:lstStyle/>
          <a:p>
            <a:pPr algn="ctr" indent="0" marL="0">
              <a:buNone/>
            </a:pPr>
            <a:r>
              <a:rPr lang="en-US" sz="4000" b="1" dirty="0">
                <a:solidFill>
                  <a:srgbClr val="1473E6"/>
                </a:solidFill>
                <a:latin typeface="Segoe UI" pitchFamily="34" charset="0"/>
                <a:ea typeface="Segoe UI" pitchFamily="34" charset="-122"/>
                <a:cs typeface="Segoe UI" pitchFamily="34" charset="-120"/>
              </a:rPr>
              <a:t>6.7k</a:t>
            </a:r>
            <a:endParaRPr lang="en-US" sz="4000" dirty="0"/>
          </a:p>
        </p:txBody>
      </p:sp>
      <p:sp>
        <p:nvSpPr>
          <p:cNvPr id="10" name="Text 7"/>
          <p:cNvSpPr txBox="1"/>
          <p:nvPr/>
        </p:nvSpPr>
        <p:spPr>
          <a:xfrm>
            <a:off x="3364992" y="2286000"/>
            <a:ext cx="2651760" cy="365760"/>
          </a:xfrm>
          <a:prstGeom prst="rect">
            <a:avLst/>
          </a:prstGeom>
          <a:noFill/>
          <a:ln/>
        </p:spPr>
        <p:txBody>
          <a:bodyPr wrap="square" lIns="0" tIns="0" rIns="0" bIns="0" rtlCol="0" anchor="t"/>
          <a:lstStyle/>
          <a:p>
            <a:pPr algn="ctr" indent="0" marL="0">
              <a:buNone/>
            </a:pPr>
            <a:r>
              <a:rPr lang="en-US" sz="1400" dirty="0">
                <a:solidFill>
                  <a:srgbClr val="5F6672"/>
                </a:solidFill>
                <a:latin typeface="Segoe UI" pitchFamily="34" charset="0"/>
                <a:ea typeface="Segoe UI" pitchFamily="34" charset="-122"/>
                <a:cs typeface="Segoe UI" pitchFamily="34" charset="-120"/>
              </a:rPr>
              <a:t>lines of JavaScript</a:t>
            </a:r>
            <a:endParaRPr lang="en-US" sz="1400" dirty="0"/>
          </a:p>
        </p:txBody>
      </p:sp>
      <p:sp>
        <p:nvSpPr>
          <p:cNvPr id="11" name="Shape 8"/>
          <p:cNvSpPr/>
          <p:nvPr/>
        </p:nvSpPr>
        <p:spPr>
          <a:xfrm>
            <a:off x="6181344" y="1463040"/>
            <a:ext cx="2651760" cy="1280160"/>
          </a:xfrm>
          <a:prstGeom prst="roundRect">
            <a:avLst>
              <a:gd name="adj" fmla="val 7143"/>
            </a:avLst>
          </a:prstGeom>
          <a:solidFill>
            <a:srgbClr val="FFFFFF"/>
          </a:solidFill>
          <a:ln w="9525">
            <a:solidFill>
              <a:srgbClr val="D5D8DD"/>
            </a:solidFill>
            <a:prstDash val="solid"/>
          </a:ln>
        </p:spPr>
      </p:sp>
      <p:sp>
        <p:nvSpPr>
          <p:cNvPr id="12" name="Text 9"/>
          <p:cNvSpPr txBox="1"/>
          <p:nvPr/>
        </p:nvSpPr>
        <p:spPr>
          <a:xfrm>
            <a:off x="6181344" y="1554480"/>
            <a:ext cx="2651760" cy="685800"/>
          </a:xfrm>
          <a:prstGeom prst="rect">
            <a:avLst/>
          </a:prstGeom>
          <a:noFill/>
          <a:ln/>
        </p:spPr>
        <p:txBody>
          <a:bodyPr wrap="square" lIns="0" tIns="0" rIns="0" bIns="0" rtlCol="0" anchor="t"/>
          <a:lstStyle/>
          <a:p>
            <a:pPr algn="ctr" indent="0" marL="0">
              <a:buNone/>
            </a:pPr>
            <a:r>
              <a:rPr lang="en-US" sz="4000" b="1" dirty="0">
                <a:solidFill>
                  <a:srgbClr val="1473E6"/>
                </a:solidFill>
                <a:latin typeface="Segoe UI" pitchFamily="34" charset="0"/>
                <a:ea typeface="Segoe UI" pitchFamily="34" charset="-122"/>
                <a:cs typeface="Segoe UI" pitchFamily="34" charset="-120"/>
              </a:rPr>
              <a:t>0</a:t>
            </a:r>
            <a:endParaRPr lang="en-US" sz="4000" dirty="0"/>
          </a:p>
        </p:txBody>
      </p:sp>
      <p:sp>
        <p:nvSpPr>
          <p:cNvPr id="13" name="Text 10"/>
          <p:cNvSpPr txBox="1"/>
          <p:nvPr/>
        </p:nvSpPr>
        <p:spPr>
          <a:xfrm>
            <a:off x="6181344" y="2286000"/>
            <a:ext cx="2651760" cy="365760"/>
          </a:xfrm>
          <a:prstGeom prst="rect">
            <a:avLst/>
          </a:prstGeom>
          <a:noFill/>
          <a:ln/>
        </p:spPr>
        <p:txBody>
          <a:bodyPr wrap="square" lIns="0" tIns="0" rIns="0" bIns="0" rtlCol="0" anchor="t"/>
          <a:lstStyle/>
          <a:p>
            <a:pPr algn="ctr" indent="0" marL="0">
              <a:buNone/>
            </a:pPr>
            <a:r>
              <a:rPr lang="en-US" sz="1400" dirty="0">
                <a:solidFill>
                  <a:srgbClr val="5F6672"/>
                </a:solidFill>
                <a:latin typeface="Segoe UI" pitchFamily="34" charset="0"/>
                <a:ea typeface="Segoe UI" pitchFamily="34" charset="-122"/>
                <a:cs typeface="Segoe UI" pitchFamily="34" charset="-120"/>
              </a:rPr>
              <a:t>models trained</a:t>
            </a:r>
            <a:endParaRPr lang="en-US" sz="1400" dirty="0"/>
          </a:p>
        </p:txBody>
      </p:sp>
      <p:sp>
        <p:nvSpPr>
          <p:cNvPr id="14" name="Shape 11"/>
          <p:cNvSpPr/>
          <p:nvPr/>
        </p:nvSpPr>
        <p:spPr>
          <a:xfrm>
            <a:off x="8997696" y="1463040"/>
            <a:ext cx="2651760" cy="1280160"/>
          </a:xfrm>
          <a:prstGeom prst="roundRect">
            <a:avLst>
              <a:gd name="adj" fmla="val 7143"/>
            </a:avLst>
          </a:prstGeom>
          <a:solidFill>
            <a:srgbClr val="FFFFFF"/>
          </a:solidFill>
          <a:ln w="9525">
            <a:solidFill>
              <a:srgbClr val="D5D8DD"/>
            </a:solidFill>
            <a:prstDash val="solid"/>
          </a:ln>
        </p:spPr>
      </p:sp>
      <p:sp>
        <p:nvSpPr>
          <p:cNvPr id="15" name="Text 12"/>
          <p:cNvSpPr txBox="1"/>
          <p:nvPr/>
        </p:nvSpPr>
        <p:spPr>
          <a:xfrm>
            <a:off x="8997696" y="1554480"/>
            <a:ext cx="2651760" cy="685800"/>
          </a:xfrm>
          <a:prstGeom prst="rect">
            <a:avLst/>
          </a:prstGeom>
          <a:noFill/>
          <a:ln/>
        </p:spPr>
        <p:txBody>
          <a:bodyPr wrap="square" lIns="0" tIns="0" rIns="0" bIns="0" rtlCol="0" anchor="t"/>
          <a:lstStyle/>
          <a:p>
            <a:pPr algn="ctr" indent="0" marL="0">
              <a:buNone/>
            </a:pPr>
            <a:r>
              <a:rPr lang="en-US" sz="4000" b="1" dirty="0">
                <a:solidFill>
                  <a:srgbClr val="1473E6"/>
                </a:solidFill>
                <a:latin typeface="Segoe UI" pitchFamily="34" charset="0"/>
                <a:ea typeface="Segoe UI" pitchFamily="34" charset="-122"/>
                <a:cs typeface="Segoe UI" pitchFamily="34" charset="-120"/>
              </a:rPr>
              <a:t>2</a:t>
            </a:r>
            <a:endParaRPr lang="en-US" sz="4000" dirty="0"/>
          </a:p>
        </p:txBody>
      </p:sp>
      <p:sp>
        <p:nvSpPr>
          <p:cNvPr id="16" name="Text 13"/>
          <p:cNvSpPr txBox="1"/>
          <p:nvPr/>
        </p:nvSpPr>
        <p:spPr>
          <a:xfrm>
            <a:off x="8997696" y="2286000"/>
            <a:ext cx="2651760" cy="365760"/>
          </a:xfrm>
          <a:prstGeom prst="rect">
            <a:avLst/>
          </a:prstGeom>
          <a:noFill/>
          <a:ln/>
        </p:spPr>
        <p:txBody>
          <a:bodyPr wrap="square" lIns="0" tIns="0" rIns="0" bIns="0" rtlCol="0" anchor="t"/>
          <a:lstStyle/>
          <a:p>
            <a:pPr algn="ctr" indent="0" marL="0">
              <a:buNone/>
            </a:pPr>
            <a:r>
              <a:rPr lang="en-US" sz="1400" dirty="0">
                <a:solidFill>
                  <a:srgbClr val="5F6672"/>
                </a:solidFill>
                <a:latin typeface="Segoe UI" pitchFamily="34" charset="0"/>
                <a:ea typeface="Segoe UI" pitchFamily="34" charset="-122"/>
                <a:cs typeface="Segoe UI" pitchFamily="34" charset="-120"/>
              </a:rPr>
              <a:t>pretrained models used</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64240" cy="914400"/>
        </p:xfrm>
        <a:graphic>
          <a:graphicData uri="http://schemas.openxmlformats.org/drawingml/2006/table">
            <a:tbl>
              <a:tblPr/>
              <a:tblGrid>
                <a:gridCol w="3931920"/>
                <a:gridCol w="3108960"/>
                <a:gridCol w="4023360"/>
              </a:tblGrid>
              <a:tr h="457200">
                <a:tc>
                  <a:txBody>
                    <a:bodyPr/>
                    <a:lstStyle/>
                    <a:p>
                      <a:pPr indent="0" marL="0">
                        <a:buNone/>
                      </a:pPr>
                      <a:r>
                        <a:rPr lang="en-US" sz="1300" b="1" dirty="0">
                          <a:solidFill>
                            <a:srgbClr val="5F6672"/>
                          </a:solidFill>
                          <a:latin typeface="Segoe UI" pitchFamily="34" charset="0"/>
                          <a:ea typeface="Segoe UI" pitchFamily="34" charset="-122"/>
                          <a:cs typeface="Segoe UI" pitchFamily="34" charset="-120"/>
                        </a:rPr>
                        <a:t>Component</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c>
                  <a:txBody>
                    <a:bodyPr/>
                    <a:lstStyle/>
                    <a:p>
                      <a:pPr indent="0" marL="0">
                        <a:buNone/>
                      </a:pPr>
                      <a:r>
                        <a:rPr lang="en-US" sz="1300" b="1" dirty="0">
                          <a:solidFill>
                            <a:srgbClr val="5F6672"/>
                          </a:solidFill>
                          <a:latin typeface="Segoe UI" pitchFamily="34" charset="0"/>
                          <a:ea typeface="Segoe UI" pitchFamily="34" charset="-122"/>
                          <a:cs typeface="Segoe UI" pitchFamily="34" charset="-120"/>
                        </a:rPr>
                        <a:t>Source</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c>
                  <a:txBody>
                    <a:bodyPr/>
                    <a:lstStyle/>
                    <a:p>
                      <a:pPr indent="0" marL="0">
                        <a:buNone/>
                      </a:pPr>
                      <a:r>
                        <a:rPr lang="en-US" sz="1300" b="1" dirty="0">
                          <a:solidFill>
                            <a:srgbClr val="5F6672"/>
                          </a:solidFill>
                          <a:latin typeface="Segoe UI" pitchFamily="34" charset="0"/>
                          <a:ea typeface="Segoe UI" pitchFamily="34" charset="-122"/>
                          <a:cs typeface="Segoe UI" pitchFamily="34" charset="-120"/>
                        </a:rPr>
                        <a:t>Role in FormFlow</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3F4F6"/>
                    </a:solidFill>
                  </a:tcPr>
                </a:tc>
              </a:tr>
              <a:tr h="457200">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MediaPipe (hand and arm models)</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Google, already trained</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finds the hands and arms</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Three.js</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open source</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draws the 3D scene</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FastAPI (Python)</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open source</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runs the app and saves files</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Web Speech</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built into Chrome and Edge</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voice commands</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Node test and pytest</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standard tools</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288 automated tests</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E8590C"/>
                          </a:solidFill>
                          <a:latin typeface="Segoe UI" pitchFamily="34" charset="0"/>
                          <a:ea typeface="Segoe UI" pitchFamily="34" charset="-122"/>
                          <a:cs typeface="Segoe UI" pitchFamily="34" charset="-120"/>
                        </a:rPr>
                        <a:t>Own code (core logic)</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written for this project</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Segoe UI" pitchFamily="34" charset="0"/>
                          <a:ea typeface="Segoe UI" pitchFamily="34" charset="-122"/>
                          <a:cs typeface="Segoe UI" pitchFamily="34" charset="-120"/>
                        </a:rPr>
                        <a:t>tracking, gestures, filters, sketching, outlines, 3D hull, the screen</a:t>
                      </a:r>
                      <a:endParaRPr lang="en-US" sz="1300" dirty="0">
                        <a:latin typeface="Segoe UI" charset="0"/>
                        <a:ea typeface="Segoe UI" charset="0"/>
                        <a:cs typeface="Segoe UI" charset="0"/>
                      </a:endParaRPr>
                    </a:p>
                  </a:txBody>
                  <a:tcPr marL="91440" marR="91440" marT="36576" marB="36576" anchor="ctr">
                    <a:lnL w="9525" cap="flat" cmpd="sng" algn="ctr">
                      <a:solidFill>
                        <a:srgbClr val="D5D8DD"/>
                      </a:solidFill>
                      <a:prstDash val="solid"/>
                      <a:round/>
                      <a:headEnd type="none" w="med" len="med"/>
                      <a:tailEnd type="none" w="med" len="med"/>
                    </a:lnL>
                    <a:lnR w="9525" cap="flat" cmpd="sng" algn="ctr">
                      <a:solidFill>
                        <a:srgbClr val="D5D8DD"/>
                      </a:solidFill>
                      <a:prstDash val="solid"/>
                      <a:round/>
                      <a:headEnd type="none" w="med" len="med"/>
                      <a:tailEnd type="none" w="med" len="med"/>
                    </a:lnR>
                    <a:lnT w="9525" cap="flat" cmpd="sng" algn="ctr">
                      <a:solidFill>
                        <a:srgbClr val="D5D8DD"/>
                      </a:solidFill>
                      <a:prstDash val="solid"/>
                      <a:round/>
                      <a:headEnd type="none" w="med" len="med"/>
                      <a:tailEnd type="none" w="med" len="med"/>
                    </a:lnT>
                    <a:lnB w="9525" cap="flat" cmpd="sng" algn="ctr">
                      <a:solidFill>
                        <a:srgbClr val="D5D8DD"/>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19C"/>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731520"/>
            <a:ext cx="7315200" cy="274320"/>
          </a:xfrm>
          <a:prstGeom prst="rect">
            <a:avLst/>
          </a:prstGeom>
          <a:noFill/>
          <a:ln/>
        </p:spPr>
        <p:txBody>
          <a:bodyPr wrap="square" lIns="0" tIns="0" rIns="0" bIns="0" rtlCol="0" anchor="t"/>
          <a:lstStyle/>
          <a:p>
            <a:pPr indent="0" marL="0">
              <a:buNone/>
            </a:pPr>
            <a:r>
              <a:rPr lang="en-US" sz="1200" b="1" spc="200" kern="0" dirty="0">
                <a:solidFill>
                  <a:srgbClr val="E8590C"/>
                </a:solidFill>
                <a:latin typeface="Segoe UI" pitchFamily="34" charset="0"/>
                <a:ea typeface="Segoe UI" pitchFamily="34" charset="-122"/>
                <a:cs typeface="Segoe UI" pitchFamily="34" charset="-120"/>
              </a:rPr>
              <a:t>CONCLUSION</a:t>
            </a:r>
            <a:endParaRPr lang="en-US" sz="1200" dirty="0"/>
          </a:p>
        </p:txBody>
      </p:sp>
      <p:sp>
        <p:nvSpPr>
          <p:cNvPr id="3" name="Text 1"/>
          <p:cNvSpPr txBox="1"/>
          <p:nvPr/>
        </p:nvSpPr>
        <p:spPr>
          <a:xfrm>
            <a:off x="640080" y="1097280"/>
            <a:ext cx="6400800" cy="1737360"/>
          </a:xfrm>
          <a:prstGeom prst="rect">
            <a:avLst/>
          </a:prstGeom>
          <a:noFill/>
          <a:ln/>
        </p:spPr>
        <p:txBody>
          <a:bodyPr wrap="square" lIns="0" tIns="0" rIns="0" bIns="0" rtlCol="0" anchor="t"/>
          <a:lstStyle/>
          <a:p>
            <a:pPr indent="0" marL="0">
              <a:buNone/>
            </a:pPr>
            <a:r>
              <a:rPr lang="en-US" sz="3200" b="1" dirty="0">
                <a:solidFill>
                  <a:srgbClr val="1F2328"/>
                </a:solidFill>
                <a:latin typeface="Segoe UI" pitchFamily="34" charset="0"/>
                <a:ea typeface="Segoe UI" pitchFamily="34" charset="-122"/>
                <a:cs typeface="Segoe UI" pitchFamily="34" charset="-120"/>
              </a:rPr>
              <a:t>Learning 3D by playing: easy and fun for beginners</a:t>
            </a:r>
            <a:endParaRPr lang="en-US" sz="3200" dirty="0"/>
          </a:p>
        </p:txBody>
      </p:sp>
      <p:sp>
        <p:nvSpPr>
          <p:cNvPr id="4" name="Text 2"/>
          <p:cNvSpPr txBox="1"/>
          <p:nvPr/>
        </p:nvSpPr>
        <p:spPr>
          <a:xfrm>
            <a:off x="640080" y="3108960"/>
            <a:ext cx="6309360" cy="310896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1473E6"/>
                </a:solidFill>
                <a:latin typeface="Segoe UI" pitchFamily="34" charset="0"/>
                <a:ea typeface="Segoe UI" pitchFamily="34" charset="-122"/>
                <a:cs typeface="Segoe UI" pitchFamily="34" charset="-120"/>
              </a:rPr>
              <a:t>Made for beginners: </a:t>
            </a:r>
            <a:pPr indent="0" marL="0">
              <a:buNone/>
            </a:pPr>
            <a:r>
              <a:rPr lang="en-US" sz="1400" dirty="0">
                <a:solidFill>
                  <a:srgbClr val="1F2328"/>
                </a:solidFill>
                <a:latin typeface="Segoe UI" pitchFamily="34" charset="0"/>
                <a:ea typeface="Segoe UI" pitchFamily="34" charset="-122"/>
                <a:cs typeface="Segoe UI" pitchFamily="34" charset="-120"/>
              </a:rPr>
              <a:t>a guided tour with practice, hints after every action, built-in demo pictures, and no CAD skills or special hardware.</a:t>
            </a:r>
            <a:endParaRPr lang="en-US" sz="1400" dirty="0"/>
          </a:p>
          <a:p>
            <a:pPr marL="203200" indent="-203200">
              <a:spcAft>
                <a:spcPts val="800"/>
              </a:spcAft>
              <a:buSzPct val="100000"/>
              <a:buChar char="•"/>
            </a:pPr>
            <a:r>
              <a:rPr lang="en-US" sz="1400" b="1" dirty="0">
                <a:solidFill>
                  <a:srgbClr val="1473E6"/>
                </a:solidFill>
                <a:latin typeface="Segoe UI" pitchFamily="34" charset="0"/>
                <a:ea typeface="Segoe UI" pitchFamily="34" charset="-122"/>
                <a:cs typeface="Segoe UI" pitchFamily="34" charset="-120"/>
              </a:rPr>
              <a:t>Under the hood: </a:t>
            </a:r>
            <a:pPr indent="0" marL="0">
              <a:buNone/>
            </a:pPr>
            <a:r>
              <a:rPr lang="en-US" sz="1400" dirty="0">
                <a:solidFill>
                  <a:srgbClr val="1F2328"/>
                </a:solidFill>
                <a:latin typeface="Segoe UI" pitchFamily="34" charset="0"/>
                <a:ea typeface="Segoe UI" pitchFamily="34" charset="-122"/>
                <a:cs typeface="Segoe UI" pitchFamily="34" charset="-120"/>
              </a:rPr>
              <a:t>classical computer vision plus one pretrained hand sensor; filters and tracking turn flickering landmarks into a smooth pointer.</a:t>
            </a:r>
            <a:endParaRPr lang="en-US" sz="1400" dirty="0"/>
          </a:p>
          <a:p>
            <a:pPr marL="203200" indent="-203200">
              <a:spcAft>
                <a:spcPts val="800"/>
              </a:spcAft>
              <a:buSzPct val="100000"/>
              <a:buChar char="•"/>
            </a:pPr>
            <a:r>
              <a:rPr lang="en-US" sz="1400" b="1" dirty="0">
                <a:solidFill>
                  <a:srgbClr val="1473E6"/>
                </a:solidFill>
                <a:latin typeface="Segoe UI" pitchFamily="34" charset="0"/>
                <a:ea typeface="Segoe UI" pitchFamily="34" charset="-122"/>
                <a:cs typeface="Segoe UI" pitchFamily="34" charset="-120"/>
              </a:rPr>
              <a:t>Multi-view geometry gives 3D without a depth sensor, </a:t>
            </a:r>
            <a:pPr indent="0" marL="0">
              <a:buNone/>
            </a:pPr>
            <a:r>
              <a:rPr lang="en-US" sz="1400" dirty="0">
                <a:solidFill>
                  <a:srgbClr val="1F2328"/>
                </a:solidFill>
                <a:latin typeface="Segoe UI" pitchFamily="34" charset="0"/>
                <a:ea typeface="Segoe UI" pitchFamily="34" charset="-122"/>
                <a:cs typeface="Segoe UI" pitchFamily="34" charset="-120"/>
              </a:rPr>
              <a:t>and its error matches the theory.</a:t>
            </a:r>
            <a:endParaRPr lang="en-US" sz="1400" dirty="0"/>
          </a:p>
          <a:p>
            <a:pPr marL="203200" indent="-203200">
              <a:spcAft>
                <a:spcPts val="800"/>
              </a:spcAft>
              <a:buSzPct val="100000"/>
              <a:buChar char="•"/>
            </a:pPr>
            <a:r>
              <a:rPr lang="en-US" sz="1400" b="1" dirty="0">
                <a:solidFill>
                  <a:srgbClr val="1473E6"/>
                </a:solidFill>
                <a:latin typeface="Segoe UI" pitchFamily="34" charset="0"/>
                <a:ea typeface="Segoe UI" pitchFamily="34" charset="-122"/>
                <a:cs typeface="Segoe UI" pitchFamily="34" charset="-120"/>
              </a:rPr>
              <a:t>Limits: </a:t>
            </a:r>
            <a:pPr indent="0" marL="0">
              <a:buNone/>
            </a:pPr>
            <a:r>
              <a:rPr lang="en-US" sz="1400" dirty="0">
                <a:solidFill>
                  <a:srgbClr val="1F2328"/>
                </a:solidFill>
                <a:latin typeface="Segoe UI" pitchFamily="34" charset="0"/>
                <a:ea typeface="Segoe UI" pitchFamily="34" charset="-122"/>
                <a:cs typeface="Segoe UI" pitchFamily="34" charset="-120"/>
              </a:rPr>
              <a:t>a visual hull cannot recover concavities, one camera gives no metric depth, and gesture thresholds still need real-camera tuning.</a:t>
            </a:r>
            <a:endParaRPr lang="en-US" sz="1400" dirty="0"/>
          </a:p>
        </p:txBody>
      </p:sp>
      <p:sp>
        <p:nvSpPr>
          <p:cNvPr id="5" name="Shape 3"/>
          <p:cNvSpPr/>
          <p:nvPr/>
        </p:nvSpPr>
        <p:spPr>
          <a:xfrm>
            <a:off x="7278624" y="1335024"/>
            <a:ext cx="4370832" cy="2490597"/>
          </a:xfrm>
          <a:prstGeom prst="roundRect">
            <a:avLst>
              <a:gd name="adj" fmla="val 2203"/>
            </a:avLst>
          </a:prstGeom>
          <a:solidFill>
            <a:srgbClr val="FFFFFF"/>
          </a:solidFill>
          <a:ln w="9525">
            <a:solidFill>
              <a:srgbClr val="D5D8DD"/>
            </a:solidFill>
            <a:prstDash val="solid"/>
          </a:ln>
        </p:spPr>
      </p:sp>
      <p:pic>
        <p:nvPicPr>
          <p:cNvPr id="6" name="Image 0" descr="A 3D house built from three pictures">    </p:cNvPr>
          <p:cNvPicPr>
            <a:picLocks noChangeAspect="1"/>
          </p:cNvPicPr>
          <p:nvPr/>
        </p:nvPicPr>
        <p:blipFill>
          <a:blip r:embed="rId1"/>
          <a:stretch>
            <a:fillRect/>
          </a:stretch>
        </p:blipFill>
        <p:spPr>
          <a:xfrm>
            <a:off x="7315200" y="1371600"/>
            <a:ext cx="4297680" cy="2417445"/>
          </a:xfrm>
          <a:prstGeom prst="rect">
            <a:avLst/>
          </a:prstGeom>
        </p:spPr>
      </p:pic>
      <p:sp>
        <p:nvSpPr>
          <p:cNvPr id="7" name="Text 4"/>
          <p:cNvSpPr txBox="1"/>
          <p:nvPr/>
        </p:nvSpPr>
        <p:spPr>
          <a:xfrm>
            <a:off x="7315200" y="4480560"/>
            <a:ext cx="4297680" cy="548640"/>
          </a:xfrm>
          <a:prstGeom prst="rect">
            <a:avLst/>
          </a:prstGeom>
          <a:noFill/>
          <a:ln/>
        </p:spPr>
        <p:txBody>
          <a:bodyPr wrap="square" lIns="0" tIns="0" rIns="0" bIns="0" rtlCol="0" anchor="t"/>
          <a:lstStyle/>
          <a:p>
            <a:pPr algn="ctr" indent="0" marL="0">
              <a:buNone/>
            </a:pPr>
            <a:r>
              <a:rPr lang="en-US" sz="2400" b="1" dirty="0">
                <a:solidFill>
                  <a:srgbClr val="1473E6"/>
                </a:solidFill>
                <a:latin typeface="Segoe UI" pitchFamily="34" charset="0"/>
                <a:ea typeface="Segoe UI" pitchFamily="34" charset="-122"/>
                <a:cs typeface="Segoe UI" pitchFamily="34" charset="-120"/>
              </a:rPr>
              <a:t>Thank you. Questions?</a:t>
            </a:r>
            <a:endParaRPr lang="en-US" sz="2400" dirty="0"/>
          </a:p>
        </p:txBody>
      </p:sp>
      <p:sp>
        <p:nvSpPr>
          <p:cNvPr id="8" name="Text 5"/>
          <p:cNvSpPr txBox="1"/>
          <p:nvPr/>
        </p:nvSpPr>
        <p:spPr>
          <a:xfrm>
            <a:off x="7315200" y="5074920"/>
            <a:ext cx="4297680" cy="365760"/>
          </a:xfrm>
          <a:prstGeom prst="rect">
            <a:avLst/>
          </a:prstGeom>
          <a:noFill/>
          <a:ln/>
        </p:spPr>
        <p:txBody>
          <a:bodyPr wrap="square" lIns="0" tIns="0" rIns="0" bIns="0" rtlCol="0" anchor="t"/>
          <a:lstStyle/>
          <a:p>
            <a:pPr algn="ctr" indent="0" marL="0">
              <a:buNone/>
            </a:pPr>
            <a:r>
              <a:rPr lang="en-US" sz="1400" dirty="0">
                <a:solidFill>
                  <a:srgbClr val="5F6672"/>
                </a:solidFill>
                <a:latin typeface="Segoe UI" pitchFamily="34" charset="0"/>
                <a:ea typeface="Segoe UI" pitchFamily="34" charset="-122"/>
                <a:cs typeface="Segoe UI" pitchFamily="34" charset="-120"/>
              </a:rPr>
              <a:t>Saran S Kumar  ·  453</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FormFlow: hand-gesture 3D sketching and multi-view reconstruction</dc:title>
  <dc:subject>Introduction to Computer Vision (PBCMT504), Semester S5</dc:subject>
  <dc:creator>Saran S Kumar</dc:creator>
  <cp:lastModifiedBy>Saran S Kumar</cp:lastModifiedBy>
  <cp:revision>1</cp:revision>
  <dcterms:created xsi:type="dcterms:W3CDTF">2026-10-30T09:20:32Z</dcterms:created>
  <dcterms:modified xsi:type="dcterms:W3CDTF">2026-10-30T09:20:32Z</dcterms:modified>
</cp:coreProperties>
</file>