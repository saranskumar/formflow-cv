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EF1F6"/>
                </a:solidFill>
                <a:latin typeface="Calibri"/>
              </a:rPr>
              <a:t>Cursor jitter (std. dev., image fraction × 1000)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Jitter</c:v>
                </c:pt>
              </c:strCache>
            </c:strRef>
          </c:tx>
          <c:spPr>
            <a:solidFill>
              <a:srgbClr val="46BEF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Raw fingertip point</c:v>
                  </c:pt>
                  <c:pt idx="1">
                    <c:v>One-Euro filter only</c:v>
                  </c:pt>
                  <c:pt idx="2">
                    <c:v>Filter + wrist anchor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4.89</c:v>
                </c:pt>
                <c:pt idx="1">
                  <c:v>1.7</c:v>
                </c:pt>
                <c:pt idx="2">
                  <c:v>1.22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EEF1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A33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EF1F6"/>
                </a:solidFill>
                <a:latin typeface="Calibri"/>
              </a:rPr>
              <a:t>Glitch effects on a held pinch (300 frames)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detections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False pinch toggles</c:v>
                  </c:pt>
                  <c:pt idx="1">
                    <c:v>Frames with a phantom second hand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</c:v>
                </c:pt>
                <c:pt idx="1">
                  <c:v>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the tracker</c:v>
                </c:pt>
              </c:strCache>
            </c:strRef>
          </c:tx>
          <c:spPr>
            <a:solidFill>
              <a:srgbClr val="6EE7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False pinch toggles</c:v>
                  </c:pt>
                  <c:pt idx="1">
                    <c:v>Frames with a phantom second hand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EEF1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A33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B6BFC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EF1F6"/>
                </a:solidFill>
                <a:latin typeface="Calibri"/>
              </a:rPr>
              <a:t>Outline IoU against picture noise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rectangle</c:v>
                </c:pt>
              </c:strCache>
            </c:strRef>
          </c:tx>
          <c:spPr>
            <a:solidFill>
              <a:srgbClr val="46BEFF"/>
            </a:solidFill>
            <a:ln w="31750" cap="flat">
              <a:solidFill>
                <a:srgbClr val="46BE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46BEFF"/>
              </a:solidFill>
              <a:ln w="9525" cap="flat">
                <a:solidFill>
                  <a:srgbClr val="46BE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8</c:v>
                  </c:pt>
                  <c:pt idx="2">
                    <c:v>16</c:v>
                  </c:pt>
                  <c:pt idx="3">
                    <c:v>24</c:v>
                  </c:pt>
                  <c:pt idx="4">
                    <c:v>32</c:v>
                  </c:pt>
                  <c:pt idx="5">
                    <c:v>48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0.988</c:v>
                </c:pt>
                <c:pt idx="1">
                  <c:v>0.986</c:v>
                </c:pt>
                <c:pt idx="2">
                  <c:v>0.986</c:v>
                </c:pt>
                <c:pt idx="3">
                  <c:v>0.985</c:v>
                </c:pt>
                <c:pt idx="4">
                  <c:v>0.987</c:v>
                </c:pt>
                <c:pt idx="5">
                  <c:v>0.987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circle</c:v>
                </c:pt>
              </c:strCache>
            </c:strRef>
          </c:tx>
          <c:spPr>
            <a:solidFill>
              <a:srgbClr val="FFAF46"/>
            </a:solidFill>
            <a:ln w="31750" cap="flat">
              <a:solidFill>
                <a:srgbClr val="FFAF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FAF46"/>
              </a:solidFill>
              <a:ln w="9525" cap="flat">
                <a:solidFill>
                  <a:srgbClr val="FFAF4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8</c:v>
                  </c:pt>
                  <c:pt idx="2">
                    <c:v>16</c:v>
                  </c:pt>
                  <c:pt idx="3">
                    <c:v>24</c:v>
                  </c:pt>
                  <c:pt idx="4">
                    <c:v>32</c:v>
                  </c:pt>
                  <c:pt idx="5">
                    <c:v>48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0.99</c:v>
                </c:pt>
                <c:pt idx="1">
                  <c:v>0.991</c:v>
                </c:pt>
                <c:pt idx="2">
                  <c:v>0.991</c:v>
                </c:pt>
                <c:pt idx="3">
                  <c:v>0.991</c:v>
                </c:pt>
                <c:pt idx="4">
                  <c:v>0.99</c:v>
                </c:pt>
                <c:pt idx="5">
                  <c:v>0.99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 bracket</c:v>
                </c:pt>
              </c:strCache>
            </c:strRef>
          </c:tx>
          <c:spPr>
            <a:solidFill>
              <a:srgbClr val="6EE7A0"/>
            </a:solidFill>
            <a:ln w="31750" cap="flat">
              <a:solidFill>
                <a:srgbClr val="6EE7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EE7A0"/>
              </a:solidFill>
              <a:ln w="9525" cap="flat">
                <a:solidFill>
                  <a:srgbClr val="6EE7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8</c:v>
                  </c:pt>
                  <c:pt idx="2">
                    <c:v>16</c:v>
                  </c:pt>
                  <c:pt idx="3">
                    <c:v>24</c:v>
                  </c:pt>
                  <c:pt idx="4">
                    <c:v>32</c:v>
                  </c:pt>
                  <c:pt idx="5">
                    <c:v>48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0.972</c:v>
                </c:pt>
                <c:pt idx="1">
                  <c:v>0.975</c:v>
                </c:pt>
                <c:pt idx="2">
                  <c:v>0.972</c:v>
                </c:pt>
                <c:pt idx="3">
                  <c:v>0.975</c:v>
                </c:pt>
                <c:pt idx="4">
                  <c:v>0.976</c:v>
                </c:pt>
                <c:pt idx="5">
                  <c:v>0.983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house</c:v>
                </c:pt>
              </c:strCache>
            </c:strRef>
          </c:tx>
          <c:spPr>
            <a:solidFill>
              <a:srgbClr val="C08CFF"/>
            </a:solidFill>
            <a:ln w="31750" cap="flat">
              <a:solidFill>
                <a:srgbClr val="C0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08CFF"/>
              </a:solidFill>
              <a:ln w="9525" cap="flat">
                <a:solidFill>
                  <a:srgbClr val="C0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8</c:v>
                  </c:pt>
                  <c:pt idx="2">
                    <c:v>16</c:v>
                  </c:pt>
                  <c:pt idx="3">
                    <c:v>24</c:v>
                  </c:pt>
                  <c:pt idx="4">
                    <c:v>32</c:v>
                  </c:pt>
                  <c:pt idx="5">
                    <c:v>48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0.988</c:v>
                </c:pt>
                <c:pt idx="1">
                  <c:v>0.991</c:v>
                </c:pt>
                <c:pt idx="2">
                  <c:v>0.989</c:v>
                </c:pt>
                <c:pt idx="3">
                  <c:v>0.988</c:v>
                </c:pt>
                <c:pt idx="4">
                  <c:v>0.988</c:v>
                </c:pt>
                <c:pt idx="5">
                  <c:v>0.988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EEF1F6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B6BFCE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B6BFCE"/>
                    </a:solidFill>
                    <a:latin typeface="Arial"/>
                  </a:rPr>
                  <a:t>Gaussian noise (levels out of 255)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9"/>
        </c:scaling>
        <c:delete val="0"/>
        <c:axPos val="l"/>
        <c:majorGridlines>
          <c:spPr>
            <a:ln w="6350" cap="flat">
              <a:solidFill>
                <a:srgbClr val="2A3344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B6BFC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EEF1F6"/>
                </a:solidFill>
                <a:latin typeface="Calibri"/>
              </a:rPr>
              <a:t>Sphere: volume error vs the true sphere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error</c:v>
                </c:pt>
              </c:strCache>
            </c:strRef>
          </c:tx>
          <c:spPr>
            <a:solidFill>
              <a:srgbClr val="FFAF4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EF1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view (extruded)</c:v>
                  </c:pt>
                  <c:pt idx="1">
                    <c:v>2 views</c:v>
                  </c:pt>
                  <c:pt idx="2">
                    <c:v>3 views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-25.2</c:v>
                </c:pt>
                <c:pt idx="1">
                  <c:v>27</c:v>
                </c:pt>
                <c:pt idx="2">
                  <c:v>11.6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EEF1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3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6BFC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FormFlow turns hand gestures and simple pictures into 3D models using one webcam. The image shows the end result: three pencil drawings of a head, converted into a 3D bust.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problem, then the constraints that make it a computer-vision problem: one RGB camera, no markers, no depth sensor, no custom model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three screenshots: gestures, three-view drawing, photos.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outcome maps to concrete work in the project; the next two slides map every syllabus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where the syllabus topic is not implemented literally, say what we used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machine-learning topics are the thinnest: we use pretrained networks but do not train.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row: hands to pointer. Bottom row: outlines to 3D. Purple boxes are pretrained models; everything else is code written for this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pinhole model is used twice: to draw the scene, and to turn a screen point back into a 3D ray.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single webcam cannot give binocular disparity. Three orthographic silhouettes do the job for object shape: every axis is measured by two views, which acts like a constraint between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kinds of geometry used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filters, and the measured effect of the cursor filter and the wrist anchor on a pinching hand with noisy fingertips.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that Sobel or Canny edge detection is future work; the project gets edges from mask contours.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train a network. The pretrained MediaPipe models turn pixels into landmarks; everything after that is our own signal processing.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classifier is a hand-designed decision rule, but the thresholds are fitted to each user, like a two-cluster decision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raw model output glitches. The tracker layer fixes five failure modes. Numbers are from a synthetic 300-frame stream with injected glitches.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 through the five stages on a real pencil drawing.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IoU is the model-quality metric from the syllabus; here it measures the tracer against known shapes and the hull against its own drawings.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silhouette extruded along its viewing direction contains the object. Their intersection is the tightest bound from those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sphere is the worst case for a visual hull: two crossed cylinders overestimate by 27%, three by 12%. Our numbers match the theory, which validates the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four built-in samples. The head uses real pencil drawings that run off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two landmark networks are off-the-shelf models. The rest of the vision pipeline is our own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limits before the evaluators find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FormFlow  ·  Introduction to Computer Vision  ·  S5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D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COMPUTER VISION  ·  PBCMT504  ·  S5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FormFlow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in the air. Build it in 3D.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Hand-gesture 3D sketching and multi-view reconstruction from a single ordinary webcam, running in the browser.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buNone/>
            </a:pPr>
            <a:r>
              <a:rPr lang="en-US" sz="16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S Kumar  ·  453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486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 (PBL)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18504" y="1380744"/>
            <a:ext cx="5285232" cy="3004947"/>
          </a:xfrm>
          <a:prstGeom prst="roundRect">
            <a:avLst>
              <a:gd name="adj" fmla="val 1826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9" name="Image 0" descr="A 3D head-and-shoulders bust built by FormFlow from three pencil draw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417320"/>
            <a:ext cx="5212080" cy="29317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355080" y="46634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pencil drawings in, one 3D bust out (96% match)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in 3D should not need CAD training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029200" cy="1417320"/>
          </a:xfrm>
          <a:prstGeom prst="roundRect">
            <a:avLst>
              <a:gd name="adj" fmla="val 6452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27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385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tools need training and mouse-and-menu input, which slows early ideation for beginners.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3063240"/>
            <a:ext cx="5029200" cy="1417320"/>
          </a:xfrm>
          <a:prstGeom prst="roundRect">
            <a:avLst>
              <a:gd name="adj" fmla="val 6452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227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38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ordinary webcam. No markers, gloves or depth sensor. No model training. Real time, in a browser.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5029200" cy="1417320"/>
          </a:xfrm>
          <a:prstGeom prst="roundRect">
            <a:avLst>
              <a:gd name="adj" fmla="val 6452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1389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hand gestures, and simple front / side / top outlines or photos, into an approximate 3D model that can be exported as OBJ or STL.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861304" y="1517904"/>
            <a:ext cx="5742432" cy="3262122"/>
          </a:xfrm>
          <a:prstGeom prst="roundRect">
            <a:avLst>
              <a:gd name="adj" fmla="val 1682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5" name="Image 0" descr="FormFlow 3D sketch workspace with solids and freehand strok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554480"/>
            <a:ext cx="5669280" cy="318897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897880" y="4892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sketch workspace: solids and strokes drawn with hand gestures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make a 3D shape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93592" cy="3657600"/>
          </a:xfrm>
          <a:prstGeom prst="roundRect">
            <a:avLst>
              <a:gd name="adj" fmla="val 2545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" y="1609344"/>
            <a:ext cx="3337560" cy="1909382"/>
          </a:xfrm>
          <a:prstGeom prst="roundRect">
            <a:avLst>
              <a:gd name="adj" fmla="val 287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7" name="Image 0" descr="1  Sketch in the 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645920"/>
            <a:ext cx="3264408" cy="18362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Sketch in the air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4114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hands are tracked. The drawing hand pinches to draw; the other hand orbits, pans and zooms.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297680" y="1463040"/>
            <a:ext cx="3593592" cy="3657600"/>
          </a:xfrm>
          <a:prstGeom prst="roundRect">
            <a:avLst>
              <a:gd name="adj" fmla="val 2545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25696" y="1609344"/>
            <a:ext cx="3337560" cy="1909382"/>
          </a:xfrm>
          <a:prstGeom prst="roundRect">
            <a:avLst>
              <a:gd name="adj" fmla="val 287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2" name="Image 1" descr="2  Draw three view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1645920"/>
            <a:ext cx="3264408" cy="183623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98848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Draw three views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4114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an object in Front, Side and Top. A live 3D preview builds itself.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046720" y="1463040"/>
            <a:ext cx="3593592" cy="3657600"/>
          </a:xfrm>
          <a:prstGeom prst="roundRect">
            <a:avLst>
              <a:gd name="adj" fmla="val 2545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74736" y="1609344"/>
            <a:ext cx="3337560" cy="1909382"/>
          </a:xfrm>
          <a:prstGeom prst="roundRect">
            <a:avLst>
              <a:gd name="adj" fmla="val 287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7" name="Image 2" descr="3  Start from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1645920"/>
            <a:ext cx="3264408" cy="183623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47888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Start from photos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41148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pictures: the outline is found automatically, then the 3D shape is built.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E263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532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one output:  </a:t>
            </a:r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route ends in a watertight mesh that can be moved, scaled, cut, extruded and exported as OBJ or STL.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OUTCOMES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project meets the four course outcomes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206240"/>
                <a:gridCol w="60350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outcome (Bloom level)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FormFlow does about 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camera calibration and stereopsis (K2)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Pinhole camera, unprojection and reach calibration implemented; three-view geometry used where stereo is not available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filters for feature extraction and finding patterns (K3)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One-Euro low-pass, box blur, morphology and thresholding applied to hand signals and photographs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machine-learning models for computer vision (K3)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CNN hand and pose models built into a real-time gesture system, with tracking logic on top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 and analyse segmentation and detection (K4)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Silhouette segmentation, IoU analysis and a visual-hull case study with measured results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COVERAGE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Geometry, filters and features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6492240"/>
                <a:gridCol w="914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appears in FormFlow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Pinhole camera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Sketch camera: focal = 1.35 × viewport height, project and unproject (core/sketch.js)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Geometric camera parameters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Eye, forward / right / up basis (extrinsics); focal length and 40.6° field of view (intrinsics)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calibration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 calibration maps the hand area to the screen. Intrinsic calibration of the webcam is not done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A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Curves, surfaces, analytic Euclidean geometry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Stroke resampling and smoothing, ray–plane intersection, plane classification, surface-nets mesh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Stereopsis, epipolar constraint, binocular reconstruction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camera only. Three orthogonal views with shared-dimension constraints and a visual hull recover depth instead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A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filters and convolution, noise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3×3 box blur of photos, [1 4 1]/6 voxel blur, [¼ ½ ¼] stroke smoothing, One-Euro low-pass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Derivatives by finite differences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in the One-Euro filter, glitch gate on one-frame jumps, orbit inertia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Edges and gradient-based detectors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edges come from the mask boundary and Douglas–Peucker; Laplacian variance measures blur. No Sobel or Canny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A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Normalized correlation, templates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Gestures use palm-normalised distance ratios instead of template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C8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754880" y="292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E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pPr algn="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implemented      </a:t>
            </a:r>
            <a:pPr algn="r" indent="0" marL="0">
              <a:buNone/>
            </a:pPr>
            <a:r>
              <a:rPr lang="en-US" sz="1200" b="1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Analogue</a:t>
            </a:r>
            <a:pPr algn="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a related technique used instead      </a:t>
            </a:r>
            <a:pPr algn="r" indent="0" marL="0">
              <a:buNone/>
            </a:pPr>
            <a:r>
              <a:rPr lang="en-US" sz="1200" b="1" dirty="0">
                <a:solidFill>
                  <a:srgbClr val="7C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pPr algn="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theory only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COVERAGE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Learning, segmentation and detection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6492240"/>
                <a:gridCol w="914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topic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appears in FormFlow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Labelled data, classification, clustering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Gesture classes decided by rules; thresholds fitted to each user's open and pinched hand (two clusters). No training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A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models, convolutional networks, pooling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MediaPipe palm detector with a 21-point landmark CNN, and a lightweight pose model, run in the browser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learning and fine-tuning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done: the pretrained models are used as sensors. A recorded session log is the starting point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C8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AlexNet, VGG, ResNet, NASNet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Studied as background; not trained or compared 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C8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by clustering, K-means, Gestalt grouping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Otsu threshold (two-class clustering), connected components, closure and hole filling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subtraction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Per-pixel background model blended from the picture borders; the object is what differs from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detection (YOLO family) and quality 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Palm detector is a single-shot detector; IoU, area and volume error are 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 R-CNN, U-Net, instance and semantic segmentation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used; classical segmentation covers the single-object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C87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6BE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 study comparing models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hull with 1, 2 and 3 views; cursor filter with and without the wrist anchor; tracker on and 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E7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754880" y="292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E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pPr algn="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implemented      </a:t>
            </a:r>
            <a:pPr algn="r" indent="0" marL="0">
              <a:buNone/>
            </a:pPr>
            <a:r>
              <a:rPr lang="en-US" sz="1200" b="1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Analogue</a:t>
            </a:r>
            <a:pPr algn="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a related technique used instead      </a:t>
            </a:r>
            <a:pPr algn="r" indent="0" marL="0">
              <a:buNone/>
            </a:pPr>
            <a:r>
              <a:rPr lang="en-US" sz="1200" b="1" dirty="0">
                <a:solidFill>
                  <a:srgbClr val="7C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pPr algn="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theory only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webcam pixels to a 3D model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 →  POINTER AND GESTURES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8013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frame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945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video, any distance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240280" y="2350008"/>
            <a:ext cx="182880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23160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C08C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14600" y="18013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+ pose models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514600" y="21945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CNNs: 21 landmarks, wrist, elbow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0" y="2350008"/>
            <a:ext cx="182880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297680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89120" y="18013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tracker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89120" y="21945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ghosts, dropouts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2350008"/>
            <a:ext cx="182880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172200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63640" y="18013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decoder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263640" y="21945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pinch, grab, fist, peace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863840" y="2350008"/>
            <a:ext cx="182880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046720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38160" y="18013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filter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21945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One-Euro, wrist anchor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38360" y="2350008"/>
            <a:ext cx="182880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921240" y="1691640"/>
            <a:ext cx="169164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012680" y="18013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engine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012680" y="21945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camera, undo, 3D scene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3383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OUTLINES  →  3D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70332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3813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Outlines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2062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in Front, Side, Top, or found in photos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560320" y="4361688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2816352" y="370332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907792" y="3813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tracer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907792" y="42062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model, Otsu, blob, contour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828032" y="4361688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5084064" y="370332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75504" y="3813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hull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175504" y="42062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rasterise, intersect in a voxel grid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095744" y="4361688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7351776" y="370332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43216" y="3813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nets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7443216" y="42062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watertight triangle mesh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363456" y="4361688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619488" y="3703320"/>
            <a:ext cx="2011680" cy="1325880"/>
          </a:xfrm>
          <a:prstGeom prst="roundRect">
            <a:avLst>
              <a:gd name="adj" fmla="val 6897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710928" y="3813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9710928" y="42062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 and STL, or keep editing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E263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724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it: 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draws the scene each frame; a small FastAPI server hosts the app and saves exports; the browser does all the vision work, so it runs offline on a laptop or a projector setup.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CALIBRATION  ·  CO1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Pinhole camera model and unprojection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760720" cy="1737360"/>
          </a:xfrm>
          <a:prstGeom prst="roundRect">
            <a:avLst>
              <a:gd name="adj" fmla="val 5263"/>
            </a:avLst>
          </a:prstGeom>
          <a:solidFill>
            <a:srgbClr val="1E263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27632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E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screen_x = c_x + f · (p · right) / z_c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EE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screen_y = c_y − f · (p · up) / z_c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EE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1.35 × viewport height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EE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FOV = 2·atan(1 / 2.7) = 40.6°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429000"/>
            <a:ext cx="5760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Extrinsics: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eye, forward, right and up vectors from yaw, pitch and distance (an orbit camera).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Unprojection: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pixel → ray → intersection with the "glass" plane at the chosen depth → a 3D point.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shows two corners of their reach; that area is mapped to the whole screen.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from one camera: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 size shrinks with distance, so it scales smoothing and the detector crop. It is a cue, not metric depth.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92824" y="1517904"/>
            <a:ext cx="5056632" cy="2876360"/>
          </a:xfrm>
          <a:prstGeom prst="roundRect">
            <a:avLst>
              <a:gd name="adj" fmla="val 1907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9" name="Image 0" descr="Perspective view of the 3D sketch worksp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983480" cy="28032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29400" y="443484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renderer uses the same camera, so what the engine computes is exactly what is drawn.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STEREOPSIS  ·  CO1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orthogonal views share their dimensions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952744" y="1517904"/>
            <a:ext cx="5696712" cy="3236405"/>
          </a:xfrm>
          <a:prstGeom prst="roundRect">
            <a:avLst>
              <a:gd name="adj" fmla="val 1695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6" name="Image 0" descr="Front, Side and Top drawing cells with a live 3D p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54480"/>
            <a:ext cx="5623560" cy="316325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89320" y="484632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and Front share X; Front and Side share Y; Top and Side share Z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28016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Looks along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Outline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(x, 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width, height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(z, 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depth, height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(x, z)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width, depth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548640" y="356616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views disagree about a shared dimension by more than 15%, a warning is shown.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are stretched and shifted to the mean extent and centre of each shared axis.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stereo: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camera gives no disparity; silhouettes from known directions give depth instead.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IMAGE FEATURES  ·  CO1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Curves, surfaces and analytic geometry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93592" cy="2286000"/>
          </a:xfrm>
          <a:prstGeom prst="roundRect">
            <a:avLst>
              <a:gd name="adj" fmla="val 400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Strokes are resampled at equal arc length and smoothed with a [¼ ½ ¼] kernel. Circles are 40-segment rings. Ends closer than 0.25 are closed.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93592" cy="2286000"/>
          </a:xfrm>
          <a:prstGeom prst="roundRect">
            <a:avLst>
              <a:gd name="adj" fmla="val 400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10312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are outward-wound triangle meshes. The voxel hull becomes a watertight mesh by surface nets: each vertex is the mean of its edge crossings.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46720" y="1463040"/>
            <a:ext cx="3593592" cy="2286000"/>
          </a:xfrm>
          <a:prstGeom prst="roundRect">
            <a:avLst>
              <a:gd name="adj" fmla="val 400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geometry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10312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Ray–plane intersection places the cursor; point-to-segment distance picks objects; an outline is "on a plane" if its range along one axis is under 0.02.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12064" y="3941064"/>
            <a:ext cx="4096512" cy="2336292"/>
          </a:xfrm>
          <a:prstGeom prst="roundRect">
            <a:avLst>
              <a:gd name="adj" fmla="val 2348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5" name="Image 0" descr="An L-shaped solid built from two out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4023360" cy="2263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37760" y="41148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L-bracket built from its Front and Top outlines: 57,884 triangles, 100% re-projection match.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50749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is computed from signed tetrahedra, and the error against the true volume is used in the case study.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FILTERS AND CONVOLUTION  ·  CO2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noisy signals and images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669280" cy="1051560"/>
          </a:xfrm>
          <a:prstGeom prst="roundRect">
            <a:avLst>
              <a:gd name="adj" fmla="val 8696"/>
            </a:avLst>
          </a:prstGeom>
          <a:solidFill>
            <a:srgbClr val="1E263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E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f_c = f_min + β·|dx̂|      α = 1 / (1 + τ/dt)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EE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x̂ = α·x + (1 − α)·x̂_prev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97480"/>
            <a:ext cx="5669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One-Euro filter: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low-pass whose cutoff rises with speed: steady when slow, no lag when fast.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3×3 box blur: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camera noise and JPEG blocks before a photo is thresholded.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 4 1] / 6 blur: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smoothing of the voxel grid before meshing.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Erode and dilate: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and maximum filters that close gaps in masks.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 anchor: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cursor follows the steady palm point; only the pinch offset is low-passed.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92240" y="1463040"/>
          <a:ext cx="51206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92240" y="6080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pinching hand, 120 frames: fingertips jitter about 5× more than the palm.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DERIVATIVES, GRADIENTS AND EDGES  ·  CO2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differences, sharpness and contours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93592" cy="2514600"/>
          </a:xfrm>
          <a:prstGeom prst="roundRect">
            <a:avLst>
              <a:gd name="adj" fmla="val 3636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differences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dx/dt = (x − x_prev) / dt drives the One-Euro cutoff and the orbit inertia. A one-frame jump above 0.18 of the image is rejected as a tracking glitch.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93592" cy="2514600"/>
          </a:xfrm>
          <a:prstGeom prst="roundRect">
            <a:avLst>
              <a:gd name="adj" fmla="val 3636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measures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10312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variance of the Laplacian of the hand area measures sharpness: a low value raises a "blurry" hint. Brightness statistics steer exposure correction.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46720" y="1463040"/>
            <a:ext cx="3593592" cy="2514600"/>
          </a:xfrm>
          <a:prstGeom prst="roundRect">
            <a:avLst>
              <a:gd name="adj" fmla="val 3636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and patterns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10312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edges are the boundary of the mask, simplified with Douglas–Peucker. There is no Sobel or Canny stage, and gestures use ratios instead of template correlation.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12064" y="4261104"/>
            <a:ext cx="2450592" cy="1644148"/>
          </a:xfrm>
          <a:prstGeom prst="roundRect">
            <a:avLst>
              <a:gd name="adj" fmla="val 3337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5" name="Image 0" descr="Object ma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97680"/>
            <a:ext cx="2377440" cy="157099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209544" y="4261104"/>
            <a:ext cx="2450592" cy="1644148"/>
          </a:xfrm>
          <a:prstGeom prst="roundRect">
            <a:avLst>
              <a:gd name="adj" fmla="val 3337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7" name="Image 1" descr="Traced ou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4297680"/>
            <a:ext cx="2377440" cy="15709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48640" y="5989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edge  →  traced outline (41 points)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080760" y="4297680"/>
            <a:ext cx="5559552" cy="1572768"/>
          </a:xfrm>
          <a:prstGeom prst="roundRect">
            <a:avLst>
              <a:gd name="adj" fmla="val 5814"/>
            </a:avLst>
          </a:prstGeom>
          <a:solidFill>
            <a:srgbClr val="1E263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09360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</a:t>
            </a:r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Sobel gradient edge mode would handle low-contrast photos, where the colour difference to the background is too small for thresholding.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FOR VISION  ·  CO3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CNNs used as the hand sensor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frame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zoomed crop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60320" y="2057400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816352" y="146304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161B24"/>
          </a:solidFill>
          <a:ln w="9525">
            <a:solidFill>
              <a:srgbClr val="C08C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907792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 detector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907792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CNN: finds hands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28032" y="2057400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084064" y="146304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75504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crop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175504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of interest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095744" y="2057400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51776" y="146304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161B24"/>
          </a:solidFill>
          <a:ln w="9525">
            <a:solidFill>
              <a:srgbClr val="C08C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43216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CNN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443216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21 points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363456" y="2057400"/>
            <a:ext cx="256032" cy="0"/>
          </a:xfrm>
          <a:prstGeom prst="line">
            <a:avLst/>
          </a:prstGeom>
          <a:noFill/>
          <a:ln w="19050">
            <a:solidFill>
              <a:srgbClr val="9AA4B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619488" y="146304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161B24"/>
          </a:solidFill>
          <a:ln w="9525">
            <a:solidFill>
              <a:srgbClr val="46BE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10928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710928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2D, metric 3D, left / right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3383280"/>
                <a:gridCol w="25603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 Landmarker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frame, or a crop around the hands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image points, 21 metric 3D points, left / right, 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cursor and gestures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Pose Landmarker (lite)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frame, every third frame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 and elbow positions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keeping a hand through dropouts, aiming the crop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25" name="Text 21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browser: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WebAssembly with the GPU delegate, and a CPU fallback.</a:t>
            </a:r>
            <a:endParaRPr lang="en-US" sz="14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training: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dataset, no fine-tuning. The networks are sensors; fine-tuning is future work.</a:t>
            </a:r>
            <a:endParaRPr lang="en-US" sz="14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landmarks: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world coordinates make a pinch look the same when the hand turns.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 ·  CO3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gesture recognition from landmarks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400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566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(palm-normalised)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thumb–index distance / palm size &lt; 0.30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draw, place, press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thumb–middle distance / palm size &lt; 0.30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an object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four fingers curled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orbit the 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and middle up, ring and pinky curled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 the 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of the above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57200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Hysteresis: </a:t>
            </a:r>
            <a:pPr indent="0" marL="0">
              <a:buNone/>
            </a:pPr>
            <a:r>
              <a:rPr lang="en-US" sz="13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below 0.30, leave above 0.45, plus a 2 to 3 frame debounce, so a gesture never flickers.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thresholds: </a:t>
            </a:r>
            <a:pPr indent="0" marL="0">
              <a:buNone/>
            </a:pPr>
            <a:r>
              <a:rPr lang="en-US" sz="13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mode measures the user's open and pinched spacing (two clusters) and sets the boundary between them.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Invariance: </a:t>
            </a:r>
            <a:pPr indent="0" marL="0">
              <a:buNone/>
            </a:pPr>
            <a:r>
              <a:rPr lang="en-US" sz="13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use 3D world landmarks, so distance and hand rotation do not change the class.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32904" y="1517904"/>
            <a:ext cx="4416552" cy="2516315"/>
          </a:xfrm>
          <a:prstGeom prst="roundRect">
            <a:avLst>
              <a:gd name="adj" fmla="val 218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8" name="Image 0" descr="Two tracked hands, one pinching and one making a f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554480"/>
            <a:ext cx="4343400" cy="244316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269480" y="411480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Cyan: drawing hand, pinching. Magenta: navigation hand, fist = orbit. Synthetic landmarks fed through the real tracker.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MODEL OUTPUT USABLE  ·  CO3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logic on top of the detector</a:t>
            </a:r>
            <a:endParaRPr lang="en-US" sz="3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54864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554480"/>
          <a:ext cx="528523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99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/ right label flips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by position; labels only vote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hand reported twice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overlapping detections merged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One-frame false hands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hand must persist 3 frames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frames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0.25 s (0.5 s if the arm is seen)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Fingertip jitter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 anchor and One-Euro filter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6355080" y="5212080"/>
            <a:ext cx="5285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frames kept: 296 of 300, against 282 of 300 without the tracker. Real-camera tuning is future work.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BY CLUSTERING  ·  CO4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object in a picture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12064" y="1472184"/>
            <a:ext cx="2130552" cy="1432667"/>
          </a:xfrm>
          <a:prstGeom prst="roundRect">
            <a:avLst>
              <a:gd name="adj" fmla="val 383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6" name="Image 0" descr="1 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2057400" cy="135951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017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Picture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2770632" y="1472184"/>
            <a:ext cx="2130552" cy="1432667"/>
          </a:xfrm>
          <a:prstGeom prst="roundRect">
            <a:avLst>
              <a:gd name="adj" fmla="val 383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9" name="Image 1" descr="2  Background mod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508760"/>
            <a:ext cx="2057400" cy="135951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807208" y="3017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Background model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029200" y="1472184"/>
            <a:ext cx="2130552" cy="1432667"/>
          </a:xfrm>
          <a:prstGeom prst="roundRect">
            <a:avLst>
              <a:gd name="adj" fmla="val 383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2" name="Image 2" descr="3  Object ma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1508760"/>
            <a:ext cx="2057400" cy="135951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065776" y="3017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Object mask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7287768" y="1472184"/>
            <a:ext cx="2130552" cy="1432667"/>
          </a:xfrm>
          <a:prstGeom prst="roundRect">
            <a:avLst>
              <a:gd name="adj" fmla="val 383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5" name="Image 3" descr="4  Largest blob, fill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44" y="1508760"/>
            <a:ext cx="2057400" cy="1359515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324344" y="3017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Largest blob, filled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9546336" y="1472184"/>
            <a:ext cx="2130552" cy="1432667"/>
          </a:xfrm>
          <a:prstGeom prst="roundRect">
            <a:avLst>
              <a:gd name="adj" fmla="val 3830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8" name="Image 4" descr="5  Outline, 41 poin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2" y="1508760"/>
            <a:ext cx="2057400" cy="135951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582912" y="3017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Outline, 41 points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548640" y="361188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Otsu picks the threshold that minimises within-class variance: two-class k-means in one dimension.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Gestalt grouping: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components keep the biggest blob; closure and hole filling make it a solid.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drawings: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corner fill handles figures that run off the edge of the picture.</a:t>
            </a:r>
            <a:endParaRPr lang="en-US" sz="1400" dirty="0"/>
          </a:p>
        </p:txBody>
      </p:sp>
      <p:sp>
        <p:nvSpPr>
          <p:cNvPr id="21" name="Text 13"/>
          <p:cNvSpPr txBox="1"/>
          <p:nvPr/>
        </p:nvSpPr>
        <p:spPr>
          <a:xfrm>
            <a:off x="6263640" y="3611880"/>
            <a:ext cx="5349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subtraction: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per-pixel background is blended from the four picture borders, so uneven light does not fool it.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candidate masks compete; a score favours solid blobs that do not touch the picture edge.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Simplify: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Douglas–Peucker reduces the boundary to a few dozen points.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QUALITY METRICS  ·  CO4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how good the segmentation is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palm detector is a single-shot detector, the same idea as SSD and YOLO: one pass proposes hand boxes, then the landmark CNN refines inside each.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objects: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far camera the frame is cropped around the hands and detection is re-run on the zoomed crop.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= |A ∩ B| / |A ∪ B|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the traced outline against the true shape, and the hull re-projection against each drawing.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035040" y="1463040"/>
          <a:ext cx="55778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2120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IoU 0.985 with no noise and 0.987 at the heaviest noise. Four synthetic shapes with uneven lighting, 3 runs each.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hull: the intersection of silhouettes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" cy="420624"/>
          </a:xfrm>
          <a:prstGeom prst="ellipse">
            <a:avLst/>
          </a:prstGeom>
          <a:solidFill>
            <a:srgbClr val="46BEFF"/>
          </a:solidFill>
          <a:ln w="6350">
            <a:solidFill>
              <a:srgbClr val="46BE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1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4996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outline per view (drawn or traced)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420624" cy="420624"/>
          </a:xfrm>
          <a:prstGeom prst="ellipse">
            <a:avLst/>
          </a:prstGeom>
          <a:solidFill>
            <a:srgbClr val="46BEFF"/>
          </a:solidFill>
          <a:ln w="6350">
            <a:solidFill>
              <a:srgbClr val="46BE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12140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1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21396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shared dimensions to their mean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743200"/>
            <a:ext cx="420624" cy="420624"/>
          </a:xfrm>
          <a:prstGeom prst="ellipse">
            <a:avLst/>
          </a:prstGeom>
          <a:solidFill>
            <a:srgbClr val="46BEFF"/>
          </a:solidFill>
          <a:ln w="6350">
            <a:solidFill>
              <a:srgbClr val="46BE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76148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1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27797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Rasterise each silhouette (even-odd fill)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383280"/>
            <a:ext cx="420624" cy="420624"/>
          </a:xfrm>
          <a:prstGeom prst="ellipse">
            <a:avLst/>
          </a:prstGeom>
          <a:solidFill>
            <a:srgbClr val="46BEFF"/>
          </a:solidFill>
          <a:ln w="6350">
            <a:solidFill>
              <a:srgbClr val="46BE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40156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1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34198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voxel only if every view contains it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420624" cy="420624"/>
          </a:xfrm>
          <a:prstGeom prst="ellipse">
            <a:avLst/>
          </a:prstGeom>
          <a:solidFill>
            <a:srgbClr val="46BEFF"/>
          </a:solidFill>
          <a:ln w="6350">
            <a:solidFill>
              <a:srgbClr val="46BE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04164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1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40599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piece, [1 4 1]/6 blur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4663440"/>
            <a:ext cx="420624" cy="420624"/>
          </a:xfrm>
          <a:prstGeom prst="ellipse">
            <a:avLst/>
          </a:prstGeom>
          <a:solidFill>
            <a:srgbClr val="46BEFF"/>
          </a:solidFill>
          <a:ln w="6350">
            <a:solidFill>
              <a:srgbClr val="46BE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681728"/>
            <a:ext cx="420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1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47000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nets mesh, IoU re-projection score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5394960"/>
            <a:ext cx="5074920" cy="731520"/>
          </a:xfrm>
          <a:prstGeom prst="roundRect">
            <a:avLst>
              <a:gd name="adj" fmla="val 12500"/>
            </a:avLst>
          </a:prstGeom>
          <a:solidFill>
            <a:srgbClr val="1E263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5532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E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occ(x, y, z) = F(x, y) ∧ S(z, y) ∧ T(x, z)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61304" y="1517904"/>
            <a:ext cx="5788152" cy="3287840"/>
          </a:xfrm>
          <a:prstGeom prst="roundRect">
            <a:avLst>
              <a:gd name="adj" fmla="val 1669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26" name="Image 0" descr="Three head drawings with traced outlines and the live 3D hull p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554480"/>
            <a:ext cx="5715000" cy="321468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897880" y="493776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drawings, three traced outlines, and the live hull in the preview cell.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 ·  CO4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views, and how fine a grid?</a:t>
            </a:r>
            <a:endParaRPr lang="en-US" sz="3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172200" y="1463040"/>
            <a:ext cx="5440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theory: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crossed cylinders predict +27.3% (2 views) and +11.9% (3 views); measured +27.0% and +11.6%.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view: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extruded to a default thickness, so depth is a guess.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Prismatic parts: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L-bracket is already exact with two views (error −0.4%).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over-estimates: </a:t>
            </a:r>
            <a:pPr indent="0" marL="0">
              <a:buNone/>
            </a:pPr>
            <a:r>
              <a:rPr lang="en-US" sz="14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hull cannot remove concavities.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83480"/>
          <a:ext cx="84124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011680"/>
                <a:gridCol w="2011680"/>
                <a:gridCol w="31089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error (L-bracket)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9052560" y="51206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Node.js, one run each. The live preview uses n = 48; Make 3D uses at least 64.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pictures in, 3D objects out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12064" y="1472184"/>
            <a:ext cx="2724912" cy="1876349"/>
          </a:xfrm>
          <a:prstGeom prst="roundRect">
            <a:avLst>
              <a:gd name="adj" fmla="val 2924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6" name="Image 0" descr="Head and shoul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2651760" cy="180319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and shoulders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6758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pencil drawings, 96% match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328416" y="1472184"/>
            <a:ext cx="2724912" cy="1876349"/>
          </a:xfrm>
          <a:prstGeom prst="roundRect">
            <a:avLst>
              <a:gd name="adj" fmla="val 2924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0" name="Image 1" descr="House with chimn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508760"/>
            <a:ext cx="2651760" cy="180319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4992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with chimney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3364992" y="36758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pictures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44768" y="1472184"/>
            <a:ext cx="2724912" cy="1876349"/>
          </a:xfrm>
          <a:prstGeom prst="roundRect">
            <a:avLst>
              <a:gd name="adj" fmla="val 2924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4" name="Image 2" descr="Roc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508760"/>
            <a:ext cx="2651760" cy="180319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81344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Rocket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6181344" y="36758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pictures; fins show only in the top view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961120" y="1472184"/>
            <a:ext cx="2724912" cy="1876349"/>
          </a:xfrm>
          <a:prstGeom prst="roundRect">
            <a:avLst>
              <a:gd name="adj" fmla="val 2924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18" name="Image 3" descr="V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508760"/>
            <a:ext cx="2651760" cy="180319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97696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Vase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997696" y="36758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picture, spun into a round solid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512064" y="4489704"/>
            <a:ext cx="6108192" cy="1427000"/>
          </a:xfrm>
          <a:prstGeom prst="roundRect">
            <a:avLst>
              <a:gd name="adj" fmla="val 3845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22" name="Image 4" descr="The three input drawings of the head: front, side and 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526280"/>
            <a:ext cx="6035040" cy="135384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48640" y="60350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input drawings: front, side, top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6949440" y="46634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inputs are ordinary pictures. The app finds each outline, aligns the views and builds the mesh in the browser, with no 3D software and no training.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used, and where it comes from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64992" y="1463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64992" y="1554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6.7k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364992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JavaScript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181344" y="1463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81344" y="1554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181344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trained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997696" y="1463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97696" y="1554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997696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models used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108960"/>
                <a:gridCol w="4023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A4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FormFlow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6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MediaPipe Tasks Vision 0.10 (hand and pose models)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Google, pretrained, run with WebAssembly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landmarks of both hands, wrist and elbow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Three.js r160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source, WebGL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draws the scene, four viewports in plane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and Uvicorn, Python 3.12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serves the app, WebSocket, export and calibration storage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Speech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into Chrome and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voice commands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node:test and pytest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test runners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 JavaScript and 23 Python tests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A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code (core logic)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for this project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EF1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tracking, gestures, filters, sketch engine, silhouette tracer, visual hull, meshing, 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33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future work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40680" cy="3566160"/>
          </a:xfrm>
          <a:prstGeom prst="roundRect">
            <a:avLst>
              <a:gd name="adj" fmla="val 2564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645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4937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hull cannot recover concavities and always over-estimates.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camera gives no metric depth: scale is relative.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rules and thresholds were tuned by practice, not trained; real-camera tuning is ongoing.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object per picture, on a reasonably plain background.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199632" y="1463040"/>
            <a:ext cx="5440680" cy="3566160"/>
          </a:xfrm>
          <a:prstGeom prst="roundRect">
            <a:avLst>
              <a:gd name="adj" fmla="val 2564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1645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E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05740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 and Canny edge mode for low-contrast photos.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webcams for binocular stereo and metric depth.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gesture classifier trained from recorded sessions.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Textured meshes and scenes with several objects.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E2634"/>
          </a:solidFill>
          <a:ln w="9525">
            <a:solidFill>
              <a:srgbClr val="2A33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next step: </a:t>
            </a:r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real sessions with the built-in session log, then train a small gesture classifier and add the Sobel edge mode.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58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A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computer vision plus one pretrained sensor is enough for an interactive 3D tool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6309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conditioning matters as much as the model: </a:t>
            </a:r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tracker and filters turned flickering landmarks into a usable pointer.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Multi-view geometry gives 3D without a depth sensor: </a:t>
            </a:r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its error matches the theory.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in the browser, </a:t>
            </a:r>
            <a:pPr indent="0" marL="0">
              <a:buNone/>
            </a:pPr>
            <a:r>
              <a:rPr lang="en-US" sz="1500" dirty="0">
                <a:solidFill>
                  <a:srgbClr val="EE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laptop webcam to a camera across the room.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278624" y="1335024"/>
            <a:ext cx="4370832" cy="2490597"/>
          </a:xfrm>
          <a:prstGeom prst="roundRect">
            <a:avLst>
              <a:gd name="adj" fmla="val 2203"/>
            </a:avLst>
          </a:prstGeom>
          <a:solidFill>
            <a:srgbClr val="161B24"/>
          </a:solidFill>
          <a:ln w="9525">
            <a:solidFill>
              <a:srgbClr val="2A3344"/>
            </a:solidFill>
            <a:prstDash val="solid"/>
          </a:ln>
        </p:spPr>
      </p:sp>
      <p:pic>
        <p:nvPicPr>
          <p:cNvPr id="6" name="Image 0" descr="A 3D house built from three pic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371600"/>
            <a:ext cx="4297680" cy="2417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6B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Questions?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0" y="5074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S Kumar  ·  453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FormFlow: hand-gesture 3D sketching and multi-view reconstruction</dc:title>
  <dc:subject>Introduction to Computer Vision (PBCMT504), Semester S5</dc:subject>
  <dc:creator>Saran S Kumar</dc:creator>
  <cp:lastModifiedBy>Saran S Kumar</cp:lastModifiedBy>
  <cp:revision>1</cp:revision>
  <dcterms:created xsi:type="dcterms:W3CDTF">2026-10-29T20:04:56Z</dcterms:created>
  <dcterms:modified xsi:type="dcterms:W3CDTF">2026-10-29T20:04:56Z</dcterms:modified>
</cp:coreProperties>
</file>